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sldIdLst>
    <p:sldId id="286" r:id="rId3"/>
    <p:sldId id="324" r:id="rId4"/>
    <p:sldId id="325" r:id="rId5"/>
    <p:sldId id="313" r:id="rId6"/>
    <p:sldId id="314" r:id="rId7"/>
    <p:sldId id="315" r:id="rId8"/>
    <p:sldId id="316" r:id="rId9"/>
    <p:sldId id="317" r:id="rId10"/>
    <p:sldId id="318" r:id="rId11"/>
    <p:sldId id="323" r:id="rId12"/>
    <p:sldId id="320" r:id="rId13"/>
    <p:sldId id="294" r:id="rId14"/>
    <p:sldId id="31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7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7" autoAdjust="0"/>
    <p:restoredTop sz="62180"/>
  </p:normalViewPr>
  <p:slideViewPr>
    <p:cSldViewPr snapToGrid="0">
      <p:cViewPr varScale="1">
        <p:scale>
          <a:sx n="78" d="100"/>
          <a:sy n="78" d="100"/>
        </p:scale>
        <p:origin x="1752" y="168"/>
      </p:cViewPr>
      <p:guideLst/>
    </p:cSldViewPr>
  </p:slideViewPr>
  <p:notesTextViewPr>
    <p:cViewPr>
      <p:scale>
        <a:sx n="1" d="1"/>
        <a:sy n="1" d="1"/>
      </p:scale>
      <p:origin x="0" y="0"/>
    </p:cViewPr>
  </p:notesTextViewPr>
  <p:notesViewPr>
    <p:cSldViewPr snapToGrid="0">
      <p:cViewPr varScale="1">
        <p:scale>
          <a:sx n="72" d="100"/>
          <a:sy n="72" d="100"/>
        </p:scale>
        <p:origin x="267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0CB40-7793-41F0-82BD-FCF24EEF427A}"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89F00-E60B-485C-BC63-6A31F703C1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大家好，今天我汇报的主题是《李群机器学习在分割任务中的应用》。我会从分割任务为什么需要结构一致性出发，介绍李群和群等变网络的基本思想，并结合医学图像分割和三维点云分割中的代表性论文，说明李群方法如何帮助模型在旋转、平移等几何变化下保持稳定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a:t>
            </a:fld>
            <a:endParaRPr lang="zh-CN" altLang="en-US"/>
          </a:p>
        </p:txBody>
      </p:sp>
    </p:spTree>
    <p:extLst>
      <p:ext uri="{BB962C8B-B14F-4D97-AF65-F5344CB8AC3E}">
        <p14:creationId xmlns:p14="http://schemas.microsoft.com/office/powerpoint/2010/main" val="79442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分割任务和普通分类不同，它需要给每个像素、体素或点赋予标签，因此非常依赖空间结构。例如医学图像中的器官边界、病灶区域、DWI 中的方向信息，以及点云中的局部邻域，都不是孤立特征。传统 CNN 或 U-Net 主要利用平移等变性，对旋转、三维姿态变化没有严格保证。虽然可以通过数据增强缓解，但增强只能覆盖有限情况，不能从模型结构上保证预测一致性。因此我们要问：能否让分割模型天然尊重几何变换？</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2</a:t>
            </a:fld>
            <a:endParaRPr lang="zh-CN" altLang="en-US"/>
          </a:p>
        </p:txBody>
      </p:sp>
    </p:spTree>
    <p:extLst>
      <p:ext uri="{BB962C8B-B14F-4D97-AF65-F5344CB8AC3E}">
        <p14:creationId xmlns:p14="http://schemas.microsoft.com/office/powerpoint/2010/main" val="1414175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DEFF-5D46-410D-F932-FF3AC0E547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6749F-76AA-D1D4-1640-A5077EBFA03B}"/>
              </a:ext>
            </a:extLst>
          </p:cNvPr>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
                </a:r>
              </a:p>
            </p:txBody>
          </p:sp>
        </mc:Choice>
        <mc:Fallback>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李群机器学习正是从这个角度出发。李群可以理解为连续几何变换的集合，例如二维旋转 SO(2)、三维旋转 SO(3)、三维刚体运动 SE(3)。李代数则描述单位元附近的无穷小变换，通常可以通过指数映射回到李群。对于分割任务来说，关键不是把所有公式都展开，而是理解：旋转、平移等几何变化可以被看成群作用；如果网络结构和这种群作用兼容，模型的特征和输出就能保持一致。</a:t>
                </a:r>
              </a:p>
            </p:txBody>
          </p:sp>
        </mc:Fallback>
      </mc:AlternateContent>
      <p:sp>
        <p:nvSpPr>
          <p:cNvPr id="4" name="灯片编号占位符 3">
            <a:extLst>
              <a:ext uri="{FF2B5EF4-FFF2-40B4-BE49-F238E27FC236}">
                <a16:creationId xmlns:a16="http://schemas.microsoft.com/office/drawing/2014/main" id="{BF688606-A8D6-647E-0277-E0772572354A}"/>
              </a:ext>
            </a:extLst>
          </p:cNvPr>
          <p:cNvSpPr>
            <a:spLocks noGrp="1"/>
          </p:cNvSpPr>
          <p:nvPr>
            <p:ph type="sldNum" sz="quarter" idx="5"/>
          </p:nvPr>
        </p:nvSpPr>
        <p:spPr/>
        <p:txBody>
          <a:bodyPr/>
          <a:lstStyle/>
          <a:p>
            <a:fld id="{4EE89F00-E60B-485C-BC63-6A31F703C18F}" type="slidenum">
              <a:rPr lang="zh-CN" altLang="en-US" smtClean="0"/>
              <a:t>3</a:t>
            </a:fld>
            <a:endParaRPr lang="zh-CN" altLang="en-US"/>
          </a:p>
        </p:txBody>
      </p:sp>
    </p:spTree>
    <p:extLst>
      <p:ext uri="{BB962C8B-B14F-4D97-AF65-F5344CB8AC3E}">
        <p14:creationId xmlns:p14="http://schemas.microsoft.com/office/powerpoint/2010/main" val="2994714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indent="0" algn="l">
              <a:lnSpc>
                <a:spcPct val="100000"/>
              </a:lnSpc>
            </a:pPr>
            <a:r>
              <a:rPr lang="en-US" altLang="zh-CN" dirty="0"/>
              <a:t>李群之所以适合分割任务，主要有四点。第一，标签应该随几何变换保持一致：图像旋转后，目标区域还是同一个目标。第二，三维医学图像和点云天然涉及 SO(3)、SE(3) 这样的三维姿态变化。第三，内置几何约束可以提升泛化能力，避免模型只记住训练集中的方向。第四，在医学分割等标注稀缺场景中，结构先验可以降低对大量增强样本的依赖。</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4</a:t>
            </a:fld>
            <a:endParaRPr lang="zh-CN" altLang="en-US"/>
          </a:p>
        </p:txBody>
      </p:sp>
    </p:spTree>
    <p:extLst>
      <p:ext uri="{BB962C8B-B14F-4D97-AF65-F5344CB8AC3E}">
        <p14:creationId xmlns:p14="http://schemas.microsoft.com/office/powerpoint/2010/main" val="455341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接下来我会介绍几个案例。第一个主案例是 2025 年 Frontiers in Artificial Intelligence 上的 SE(3) group convolutional neural networks for DWI segmentation，它直接把 SO(3)、平移和 SE(3) 群卷积用于医学图像分割。第二个方向是 GER-UNet，强调在 U-Net 中加入旋转和反射等对称性。第三个方向是三维点云分割中的 E(3) 等变方法，说明李群思想也可以用于点级标签预测。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5</a:t>
            </a:fld>
            <a:endParaRPr lang="zh-CN" altLang="en-US"/>
          </a:p>
        </p:txBody>
      </p:sp>
    </p:spTree>
    <p:extLst>
      <p:ext uri="{BB962C8B-B14F-4D97-AF65-F5344CB8AC3E}">
        <p14:creationId xmlns:p14="http://schemas.microsoft.com/office/powerpoint/2010/main" val="59814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首先看 SE(3) 群卷积在 DWI 医学图像分割中的应用。DWI 等三维医学数据会受到扫描姿态、方向变化等影响，但我们希望分割出的目标区域不会因为输入方向变化而发生不合理改变。普通 U-Net 主要依赖局部卷积和平移共享，对三维旋转没有天然等变保证。因此这类工作尝试把 SO(3) 和 SE(3) 群结构引入卷积层，使模型在特征提取过程中显式处理旋转和平移。</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6</a:t>
            </a:fld>
            <a:endParaRPr lang="zh-CN" altLang="en-US"/>
          </a:p>
        </p:txBody>
      </p:sp>
    </p:spTree>
    <p:extLst>
      <p:ext uri="{BB962C8B-B14F-4D97-AF65-F5344CB8AC3E}">
        <p14:creationId xmlns:p14="http://schemas.microsoft.com/office/powerpoint/2010/main" val="3715053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SE(3) 群卷积的思想可以分成三步。第一，输入仍然是医学体数据。第二，把普通空间特征提升到群空间，也就是每个位置不只对应一个特征，还对应不同旋转姿态下的响应。第三，在群空间中做卷积。如果输入发生旋转或平移，群特征会按照同样的方式变化。这样最后聚合回分割 mask 时，预测结果更容易保持一致。</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7</a:t>
            </a:fld>
            <a:endParaRPr lang="zh-CN" altLang="en-US"/>
          </a:p>
        </p:txBody>
      </p:sp>
    </p:spTree>
    <p:extLst>
      <p:ext uri="{BB962C8B-B14F-4D97-AF65-F5344CB8AC3E}">
        <p14:creationId xmlns:p14="http://schemas.microsoft.com/office/powerpoint/2010/main" val="182018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lnSpc>
                <a:spcPct val="100000"/>
              </a:lnSpc>
            </a:pPr>
            <a:r>
              <a:rPr lang="en-US" altLang="zh-CN" sz="1200" b="0" i="0" u="none" strike="noStrike" dirty="0">
                <a:solidFill>
                  <a:srgbClr val="000000"/>
                </a:solidFill>
              </a:rPr>
              <a:t>这一页把它放到分割网络流程中理解。标准 U-Net 是编码器-解码器结构，输入体数据，输出体素级概率图。SE(3) 群卷积相当于在编码阶段加入群空间特征：先群提升，再做群卷积编码，最后聚合并解码输出 mask。这样做的动机是，医学目标的语义不应该依赖扫描方向，网络也不应该把同一结构的不同朝向当成完全不同的模式。</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8</a:t>
            </a:fld>
            <a:endParaRPr lang="zh-CN" altLang="en-US"/>
          </a:p>
        </p:txBody>
      </p:sp>
    </p:spTree>
    <p:extLst>
      <p:ext uri="{BB962C8B-B14F-4D97-AF65-F5344CB8AC3E}">
        <p14:creationId xmlns:p14="http://schemas.microsoft.com/office/powerpoint/2010/main" val="1737678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第二个案例是群等变 U-Net。它的出发点更容易理解：U-Net 是医学图像分割中非常经典的结构，但普通卷积只天然适配平移。如果医学图像中还存在旋转、反射等对称性，就可以把这些对称性也写入网络。这样模型在看到旋转或镜像后的结构时，不需要完全重新学习一套滤波器，而是通过群等变关系共享特征。</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9</a:t>
            </a:fld>
            <a:endParaRPr lang="zh-CN" altLang="en-US"/>
          </a:p>
        </p:txBody>
      </p:sp>
    </p:spTree>
    <p:extLst>
      <p:ext uri="{BB962C8B-B14F-4D97-AF65-F5344CB8AC3E}">
        <p14:creationId xmlns:p14="http://schemas.microsoft.com/office/powerpoint/2010/main" val="174386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第三个案例从医学图像转向三维点云分割。传统 E(3) 等变方法常常假设整个物体一起旋转和平移，但真实场景中很多对象不是整体刚体运动。例如人体抬手时，手臂、躯干和腿会产生不同局部运动；室内点云中不同家具也是局部对象。因此分块 E(3) 等变思想更适合分割任务：它让局部区域也遵守几何一致性，从而更贴近点云部件分割和语义分割。</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10</a:t>
            </a:fld>
            <a:endParaRPr lang="zh-CN" altLang="en-US"/>
          </a:p>
        </p:txBody>
      </p:sp>
    </p:spTree>
    <p:extLst>
      <p:ext uri="{BB962C8B-B14F-4D97-AF65-F5344CB8AC3E}">
        <p14:creationId xmlns:p14="http://schemas.microsoft.com/office/powerpoint/2010/main" val="2487552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现在把这些方法统一起来看。无论是 SE(3) 医学图像分割，还是群等变 U-Net 和点云分割，它们处理的对象不同，但思想是相同的：先明确输入空间中有哪些几何变换，再让网络特征和输出标签与这些变换保持一致。这里的李群不是额外装饰，而是把旋转、平移、反射等先验变成可计算的网络结构。</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11</a:t>
            </a:fld>
            <a:endParaRPr lang="zh-CN" altLang="en-US"/>
          </a:p>
        </p:txBody>
      </p:sp>
    </p:spTree>
    <p:extLst>
      <p:ext uri="{BB962C8B-B14F-4D97-AF65-F5344CB8AC3E}">
        <p14:creationId xmlns:p14="http://schemas.microsoft.com/office/powerpoint/2010/main" val="379702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总结一下。第一，分割任务天然需要结构一致性，因为它处理的是空间标签，而不是单个类别。第二，李群提供了描述连续几何变换的语言。第三，群等变网络通过群卷积、群提升或局部等变聚合，让特征和输出 mask 在变换下保持一致。第四，从医学图像到点云分割，李群机器学习的价值在于提升鲁棒性、减少无效学习，并在标注有限时提供更强的几何先验。参考论文包括 Frontiers in AI 2025 的 SE(3) DWI segmentation 工作、Beyond CNNs/GER-UNet，以及 ICLR 2024 的 Approximately Piecewise E(3) Equivariant Point Networks。</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12</a:t>
            </a:fld>
            <a:endParaRPr lang="zh-CN" altLang="en-US"/>
          </a:p>
        </p:txBody>
      </p:sp>
    </p:spTree>
    <p:extLst>
      <p:ext uri="{BB962C8B-B14F-4D97-AF65-F5344CB8AC3E}">
        <p14:creationId xmlns:p14="http://schemas.microsoft.com/office/powerpoint/2010/main" val="926753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1" name="图片 80">
            <a:extLst>
              <a:ext uri="{FF2B5EF4-FFF2-40B4-BE49-F238E27FC236}">
                <a16:creationId xmlns:a16="http://schemas.microsoft.com/office/drawing/2014/main" id="{4811DAED-023A-20C4-4206-8384D758517A}"/>
              </a:ext>
            </a:extLst>
          </p:cNvPr>
          <p:cNvPicPr>
            <a:picLocks noChangeAspect="1"/>
          </p:cNvPicPr>
          <p:nvPr userDrawn="1"/>
        </p:nvPicPr>
        <p:blipFill>
          <a:blip r:embed="rId2"/>
          <a:stretch>
            <a:fillRect/>
          </a:stretch>
        </p:blipFill>
        <p:spPr>
          <a:xfrm>
            <a:off x="9445452" y="251310"/>
            <a:ext cx="2344612" cy="5390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pic>
        <p:nvPicPr>
          <p:cNvPr id="80" name="图片 79">
            <a:extLst>
              <a:ext uri="{FF2B5EF4-FFF2-40B4-BE49-F238E27FC236}">
                <a16:creationId xmlns:a16="http://schemas.microsoft.com/office/drawing/2014/main" id="{1C090C5F-6A3C-0DC5-A473-2403979122F9}"/>
              </a:ext>
            </a:extLst>
          </p:cNvPr>
          <p:cNvPicPr>
            <a:picLocks noChangeAspect="1"/>
          </p:cNvPicPr>
          <p:nvPr userDrawn="1"/>
        </p:nvPicPr>
        <p:blipFill>
          <a:blip r:embed="rId2"/>
          <a:stretch>
            <a:fillRect/>
          </a:stretch>
        </p:blipFill>
        <p:spPr>
          <a:xfrm>
            <a:off x="9234436" y="230188"/>
            <a:ext cx="2344612" cy="53900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4" name="图片 83">
            <a:extLst>
              <a:ext uri="{FF2B5EF4-FFF2-40B4-BE49-F238E27FC236}">
                <a16:creationId xmlns:a16="http://schemas.microsoft.com/office/drawing/2014/main" id="{59561546-766E-5442-035E-43D8911276D5}"/>
              </a:ext>
            </a:extLst>
          </p:cNvPr>
          <p:cNvPicPr>
            <a:picLocks noChangeAspect="1"/>
          </p:cNvPicPr>
          <p:nvPr userDrawn="1"/>
        </p:nvPicPr>
        <p:blipFill>
          <a:blip r:embed="rId2"/>
          <a:stretch>
            <a:fillRect/>
          </a:stretch>
        </p:blipFill>
        <p:spPr>
          <a:xfrm>
            <a:off x="9395210" y="266065"/>
            <a:ext cx="2344612" cy="53900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272404" y="2507134"/>
            <a:ext cx="9514608" cy="584775"/>
          </a:xfrm>
          <a:prstGeom prst="rect">
            <a:avLst/>
          </a:prstGeom>
          <a:noFill/>
        </p:spPr>
        <p:txBody>
          <a:bodyPr wrap="square" rtlCol="0">
            <a:spAutoFit/>
          </a:bodyPr>
          <a:lstStyle/>
          <a:p>
            <a:pPr algn="ctr"/>
            <a:r>
              <a:rPr lang="zh-CN" altLang="en-US" sz="3200" b="1" spc="300" dirty="0">
                <a:solidFill>
                  <a:schemeClr val="accent1"/>
                </a:solidFill>
                <a:latin typeface="+mj-ea"/>
              </a:rPr>
              <a:t>李群机器学习在分割任务中的应用</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9" name="文本框 88"/>
          <p:cNvSpPr txBox="1"/>
          <p:nvPr/>
        </p:nvSpPr>
        <p:spPr>
          <a:xfrm>
            <a:off x="5195752" y="5832963"/>
            <a:ext cx="1800493" cy="369332"/>
          </a:xfrm>
          <a:prstGeom prst="rect">
            <a:avLst/>
          </a:prstGeom>
          <a:noFill/>
        </p:spPr>
        <p:txBody>
          <a:bodyPr wrap="none" rtlCol="0">
            <a:spAutoFit/>
          </a:bodyPr>
          <a:lstStyle/>
          <a:p>
            <a:r>
              <a:rPr lang="zh-CN" altLang="en-US" dirty="0">
                <a:solidFill>
                  <a:schemeClr val="bg1"/>
                </a:solidFill>
                <a:latin typeface="+mn-ea"/>
              </a:rPr>
              <a:t>汇报人：蒋伊文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分割任务中的结构问题</a:t>
            </a:r>
          </a:p>
        </p:txBody>
      </p:sp>
      <p:sp>
        <p:nvSpPr>
          <p:cNvPr id="3" name="矩形: 圆角 2"/>
          <p:cNvSpPr/>
          <p:nvPr/>
        </p:nvSpPr>
        <p:spPr>
          <a:xfrm>
            <a:off x="674345" y="1836855"/>
            <a:ext cx="4896276"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4" name="矩形: 圆顶角 3"/>
          <p:cNvSpPr/>
          <p:nvPr/>
        </p:nvSpPr>
        <p:spPr>
          <a:xfrm>
            <a:off x="674345" y="1672850"/>
            <a:ext cx="4896276"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5" name="文本框 4"/>
          <p:cNvSpPr txBox="1"/>
          <p:nvPr/>
        </p:nvSpPr>
        <p:spPr>
          <a:xfrm>
            <a:off x="2004227" y="2205334"/>
            <a:ext cx="2236510" cy="400110"/>
          </a:xfrm>
          <a:prstGeom prst="rect">
            <a:avLst/>
          </a:prstGeom>
          <a:noFill/>
        </p:spPr>
        <p:txBody>
          <a:bodyPr wrap="none" rtlCol="0">
            <a:spAutoFit/>
          </a:bodyPr>
          <a:lstStyle/>
          <a:p>
            <a:r>
              <a:rPr lang="zh-CN" altLang="en-US" sz="2000" b="1" dirty="0">
                <a:solidFill>
                  <a:schemeClr val="accent1"/>
                </a:solidFill>
                <a:latin typeface="+mj-ea"/>
                <a:ea typeface="+mj-ea"/>
              </a:rPr>
              <a:t>分割任务依赖空间结构</a:t>
            </a:r>
          </a:p>
        </p:txBody>
      </p:sp>
      <p:sp>
        <p:nvSpPr>
          <p:cNvPr id="6" name="文本框 5"/>
          <p:cNvSpPr txBox="1"/>
          <p:nvPr/>
        </p:nvSpPr>
        <p:spPr>
          <a:xfrm>
            <a:off x="1143372" y="2768045"/>
            <a:ext cx="3958221" cy="1665712"/>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医学图像：器官、病灶与纤维束具有三维方向关系。</a:t>
            </a:r>
          </a:p>
          <a:p>
            <a:pPr marL="285750" indent="-285750">
              <a:lnSpc>
                <a:spcPct val="130000"/>
              </a:lnSpc>
              <a:buClr>
                <a:schemeClr val="accent1"/>
              </a:buClr>
              <a:buFont typeface="Arial" panose="020B0604020202020204" pitchFamily="34" charset="0"/>
              <a:buChar char="•"/>
            </a:pPr>
            <a:r>
              <a:rPr lang="zh-CN" altLang="en-US" sz="1600" dirty="0"/>
              <a:t>点云/网格：每个点的标签依赖邻域几何和局部姿态。</a:t>
            </a:r>
          </a:p>
          <a:p>
            <a:pPr marL="285750" indent="-285750">
              <a:lnSpc>
                <a:spcPct val="130000"/>
              </a:lnSpc>
              <a:buClr>
                <a:schemeClr val="accent1"/>
              </a:buClr>
              <a:buFont typeface="Arial" panose="020B0604020202020204" pitchFamily="34" charset="0"/>
              <a:buChar char="•"/>
            </a:pPr>
            <a:r>
              <a:rPr lang="zh-CN" altLang="en-US" sz="1600" dirty="0"/>
              <a:t>边界预测：不仅要识别类别，还要保持轮廓、连通性和拓扑关系。</a:t>
            </a:r>
          </a:p>
          <a:p>
            <a:pPr marL="285750" indent="-285750">
              <a:lnSpc>
                <a:spcPct val="130000"/>
              </a:lnSpc>
              <a:buClr>
                <a:schemeClr val="accent1"/>
              </a:buClr>
              <a:buFont typeface="Arial" panose="020B0604020202020204" pitchFamily="34" charset="0"/>
              <a:buChar char="•"/>
            </a:pPr>
            <a:r>
              <a:rPr lang="zh-CN" altLang="en-US" sz="1600" dirty="0"/>
              <a:t>标注稀缺：分割数据获取成本高，泛化能力更重要。</a:t>
            </a:r>
          </a:p>
        </p:txBody>
      </p:sp>
      <p:sp>
        <p:nvSpPr>
          <p:cNvPr id="11" name="矩形: 圆角 10"/>
          <p:cNvSpPr/>
          <p:nvPr/>
        </p:nvSpPr>
        <p:spPr>
          <a:xfrm>
            <a:off x="6325055" y="1836855"/>
            <a:ext cx="4896275"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2" name="矩形: 圆顶角 11"/>
          <p:cNvSpPr/>
          <p:nvPr/>
        </p:nvSpPr>
        <p:spPr>
          <a:xfrm>
            <a:off x="6325055" y="1672850"/>
            <a:ext cx="4896275"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Roboto"/>
            </a:endParaRPr>
          </a:p>
        </p:txBody>
      </p:sp>
      <p:sp>
        <p:nvSpPr>
          <p:cNvPr id="13" name="文本框 12"/>
          <p:cNvSpPr txBox="1"/>
          <p:nvPr/>
        </p:nvSpPr>
        <p:spPr>
          <a:xfrm>
            <a:off x="7526696" y="2205334"/>
            <a:ext cx="2492990" cy="400110"/>
          </a:xfrm>
          <a:prstGeom prst="rect">
            <a:avLst/>
          </a:prstGeom>
          <a:noFill/>
        </p:spPr>
        <p:txBody>
          <a:bodyPr wrap="none" rtlCol="0">
            <a:spAutoFit/>
          </a:bodyPr>
          <a:lstStyle/>
          <a:p>
            <a:r>
              <a:rPr lang="zh-CN" altLang="en-US" sz="2000" b="1" dirty="0">
                <a:solidFill>
                  <a:schemeClr val="accent1"/>
                </a:solidFill>
                <a:latin typeface="+mj-ea"/>
                <a:ea typeface="+mj-ea"/>
              </a:rPr>
              <a:t>传统分割网络的局限</a:t>
            </a:r>
          </a:p>
        </p:txBody>
      </p:sp>
      <p:sp>
        <p:nvSpPr>
          <p:cNvPr id="2" name="文本框 1">
            <a:extLst>
              <a:ext uri="{FF2B5EF4-FFF2-40B4-BE49-F238E27FC236}">
                <a16:creationId xmlns:a16="http://schemas.microsoft.com/office/drawing/2014/main" id="{51FF6B5D-56A4-CCDA-2041-9A77B36ED655}"/>
              </a:ext>
            </a:extLst>
          </p:cNvPr>
          <p:cNvSpPr txBox="1"/>
          <p:nvPr/>
        </p:nvSpPr>
        <p:spPr>
          <a:xfrm>
            <a:off x="3448050" y="5608965"/>
            <a:ext cx="5295900" cy="417358"/>
          </a:xfrm>
          <a:prstGeom prst="rect">
            <a:avLst/>
          </a:prstGeom>
          <a:noFill/>
        </p:spPr>
        <p:txBody>
          <a:bodyPr wrap="square" rtlCol="0">
            <a:spAutoFit/>
          </a:bodyPr>
          <a:lstStyle/>
          <a:p>
            <a:pPr>
              <a:lnSpc>
                <a:spcPct val="130000"/>
              </a:lnSpc>
              <a:buClr>
                <a:schemeClr val="accent1"/>
              </a:buClr>
            </a:pPr>
            <a:r>
              <a:rPr lang="zh-CN" altLang="en-US" b="1" dirty="0">
                <a:latin typeface="微软雅黑" panose="020B0503020204020204" pitchFamily="34" charset="-122"/>
                <a:ea typeface="微软雅黑" panose="020B0503020204020204" pitchFamily="34" charset="-122"/>
              </a:rPr>
              <a:t>核心问题：如何让分割模型在几何变换下保持标签预测的一致性？</a:t>
            </a:r>
          </a:p>
        </p:txBody>
      </p:sp>
      <p:sp>
        <p:nvSpPr>
          <p:cNvPr id="9" name="文本框 8">
            <a:extLst>
              <a:ext uri="{FF2B5EF4-FFF2-40B4-BE49-F238E27FC236}">
                <a16:creationId xmlns:a16="http://schemas.microsoft.com/office/drawing/2014/main" id="{DD16AAA8-34A2-2EEE-7946-A2ABA094B381}"/>
              </a:ext>
            </a:extLst>
          </p:cNvPr>
          <p:cNvSpPr txBox="1"/>
          <p:nvPr/>
        </p:nvSpPr>
        <p:spPr>
          <a:xfrm>
            <a:off x="6794081" y="2768045"/>
            <a:ext cx="3958221" cy="1985800"/>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平坦空间假设：把体素或点特征当成普通向量，弱化旋转/平移结构。</a:t>
            </a:r>
          </a:p>
          <a:p>
            <a:pPr marL="285750" indent="-285750">
              <a:lnSpc>
                <a:spcPct val="130000"/>
              </a:lnSpc>
              <a:buClr>
                <a:schemeClr val="accent1"/>
              </a:buClr>
              <a:buFont typeface="Arial" panose="020B0604020202020204" pitchFamily="34" charset="0"/>
              <a:buChar char="•"/>
            </a:pPr>
            <a:r>
              <a:rPr lang="zh-CN" altLang="en-US" sz="1600" dirty="0"/>
              <a:t>数据增强不充分：旋转增强只能覆盖有限角度，不能保证严格一致性。</a:t>
            </a:r>
          </a:p>
          <a:p>
            <a:pPr marL="285750" indent="-285750">
              <a:lnSpc>
                <a:spcPct val="130000"/>
              </a:lnSpc>
              <a:buClr>
                <a:schemeClr val="accent1"/>
              </a:buClr>
              <a:buFont typeface="Arial" panose="020B0604020202020204" pitchFamily="34" charset="0"/>
              <a:buChar char="•"/>
            </a:pPr>
            <a:r>
              <a:rPr lang="zh-CN" altLang="en-US" sz="1600" dirty="0"/>
              <a:t>姿态变化敏感：同一结构换个方向，普通 CNN / U-Net 可能产生不同预测。</a:t>
            </a:r>
          </a:p>
          <a:p>
            <a:pPr marL="285750" indent="-285750">
              <a:lnSpc>
                <a:spcPct val="130000"/>
              </a:lnSpc>
              <a:buClr>
                <a:schemeClr val="accent1"/>
              </a:buClr>
              <a:buFont typeface="Arial" panose="020B0604020202020204" pitchFamily="34" charset="0"/>
              <a:buChar char="•"/>
            </a:pPr>
            <a:r>
              <a:rPr lang="zh-CN" altLang="en-US" sz="1600" dirty="0"/>
              <a:t>结构一致性不足：输出 mask 容易出现边界漂移或局部不连续。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283B-F815-1A48-56E7-237B419F5BA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5D66217F-C64E-5D70-56B9-4F20DDF88E99}"/>
              </a:ext>
            </a:extLst>
          </p:cNvPr>
          <p:cNvSpPr>
            <a:spLocks noGrp="1"/>
          </p:cNvSpPr>
          <p:nvPr>
            <p:ph type="body" sz="quarter" idx="13"/>
          </p:nvPr>
        </p:nvSpPr>
        <p:spPr>
          <a:xfrm>
            <a:off x="1029155" y="335402"/>
            <a:ext cx="6021001" cy="469897"/>
          </a:xfrm>
        </p:spPr>
        <p:txBody>
          <a:bodyPr>
            <a:normAutofit lnSpcReduction="10000"/>
          </a:bodyPr>
          <a:lstStyle/>
          <a:p>
            <a:r>
              <a:rPr lang="zh-CN" altLang="en-US" dirty="0"/>
              <a:t>李群机器学习核心思想</a:t>
            </a:r>
          </a:p>
        </p:txBody>
      </p:sp>
      <p:sp>
        <p:nvSpPr>
          <p:cNvPr id="2" name="矩形: 圆角 1">
            <a:extLst>
              <a:ext uri="{FF2B5EF4-FFF2-40B4-BE49-F238E27FC236}">
                <a16:creationId xmlns:a16="http://schemas.microsoft.com/office/drawing/2014/main" id="{BCFD6ECD-3491-20AB-E89E-FF49DFABE50B}"/>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6" name="矩形: 圆顶角 5">
            <a:extLst>
              <a:ext uri="{FF2B5EF4-FFF2-40B4-BE49-F238E27FC236}">
                <a16:creationId xmlns:a16="http://schemas.microsoft.com/office/drawing/2014/main" id="{800C2F3F-6BD9-26BD-91F5-72EE6839A614}"/>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7" name="文本框 6">
            <a:extLst>
              <a:ext uri="{FF2B5EF4-FFF2-40B4-BE49-F238E27FC236}">
                <a16:creationId xmlns:a16="http://schemas.microsoft.com/office/drawing/2014/main" id="{6716BDD6-52FB-3A4B-FC87-989F85654C84}"/>
              </a:ext>
            </a:extLst>
          </p:cNvPr>
          <p:cNvSpPr txBox="1"/>
          <p:nvPr/>
        </p:nvSpPr>
        <p:spPr>
          <a:xfrm>
            <a:off x="1301406" y="2203930"/>
            <a:ext cx="2223750" cy="400110"/>
          </a:xfrm>
          <a:prstGeom prst="rect">
            <a:avLst/>
          </a:prstGeom>
          <a:noFill/>
        </p:spPr>
        <p:txBody>
          <a:bodyPr wrap="none" rtlCol="0">
            <a:spAutoFit/>
          </a:bodyPr>
          <a:lstStyle/>
          <a:p>
            <a:r>
              <a:rPr lang="zh-CN" altLang="en-US" sz="2000" b="1" dirty="0">
                <a:solidFill>
                  <a:schemeClr val="accent1"/>
                </a:solidFill>
                <a:latin typeface="+mj-ea"/>
                <a:ea typeface="+mj-ea"/>
              </a:rPr>
              <a:t>李群 (Lie Group)</a:t>
            </a:r>
          </a:p>
        </p:txBody>
      </p:sp>
      <p:sp>
        <p:nvSpPr>
          <p:cNvPr id="13" name="文本框 12">
            <a:extLst>
              <a:ext uri="{FF2B5EF4-FFF2-40B4-BE49-F238E27FC236}">
                <a16:creationId xmlns:a16="http://schemas.microsoft.com/office/drawing/2014/main" id="{19A0E573-010F-2558-8509-157DA3C733A4}"/>
              </a:ext>
            </a:extLst>
          </p:cNvPr>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14" name="矩形: 圆角 13">
            <a:extLst>
              <a:ext uri="{FF2B5EF4-FFF2-40B4-BE49-F238E27FC236}">
                <a16:creationId xmlns:a16="http://schemas.microsoft.com/office/drawing/2014/main" id="{5FC1F430-1A4D-0423-F156-649775AC77E7}"/>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5" name="矩形: 圆顶角 14">
            <a:extLst>
              <a:ext uri="{FF2B5EF4-FFF2-40B4-BE49-F238E27FC236}">
                <a16:creationId xmlns:a16="http://schemas.microsoft.com/office/drawing/2014/main" id="{9BDA431F-A35A-0A84-2AAA-DF8B6574300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7" name="文本框 16">
            <a:extLst>
              <a:ext uri="{FF2B5EF4-FFF2-40B4-BE49-F238E27FC236}">
                <a16:creationId xmlns:a16="http://schemas.microsoft.com/office/drawing/2014/main" id="{DE002DA9-65E8-F650-0146-D05C25B7C94B}"/>
              </a:ext>
            </a:extLst>
          </p:cNvPr>
          <p:cNvSpPr txBox="1"/>
          <p:nvPr/>
        </p:nvSpPr>
        <p:spPr>
          <a:xfrm>
            <a:off x="4762691" y="2203930"/>
            <a:ext cx="2678554"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李代数 (Lie Algebra)</a:t>
            </a:r>
          </a:p>
        </p:txBody>
      </p:sp>
      <p:sp>
        <p:nvSpPr>
          <p:cNvPr id="20" name="文本框 19">
            <a:extLst>
              <a:ext uri="{FF2B5EF4-FFF2-40B4-BE49-F238E27FC236}">
                <a16:creationId xmlns:a16="http://schemas.microsoft.com/office/drawing/2014/main" id="{9D46151F-7759-656E-61C9-03854B12D175}"/>
              </a:ext>
            </a:extLst>
          </p:cNvPr>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21" name="矩形: 圆角 20">
            <a:extLst>
              <a:ext uri="{FF2B5EF4-FFF2-40B4-BE49-F238E27FC236}">
                <a16:creationId xmlns:a16="http://schemas.microsoft.com/office/drawing/2014/main" id="{AB1B2CC8-1D34-4A77-EBD7-C5E9F371FE5C}"/>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22" name="矩形: 圆顶角 21">
            <a:extLst>
              <a:ext uri="{FF2B5EF4-FFF2-40B4-BE49-F238E27FC236}">
                <a16:creationId xmlns:a16="http://schemas.microsoft.com/office/drawing/2014/main" id="{02B303E0-D6D5-E47F-A92C-6399FF98A30F}"/>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3" name="文本框 22">
            <a:extLst>
              <a:ext uri="{FF2B5EF4-FFF2-40B4-BE49-F238E27FC236}">
                <a16:creationId xmlns:a16="http://schemas.microsoft.com/office/drawing/2014/main" id="{B119A04E-EAEC-F0CD-EA76-E03E77BCD8C3}"/>
              </a:ext>
            </a:extLst>
          </p:cNvPr>
          <p:cNvSpPr txBox="1"/>
          <p:nvPr/>
        </p:nvSpPr>
        <p:spPr>
          <a:xfrm>
            <a:off x="9255326" y="2200158"/>
            <a:ext cx="1210588"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核心思想</a:t>
            </a:r>
          </a:p>
        </p:txBody>
      </p:sp>
      <p:sp>
        <p:nvSpPr>
          <p:cNvPr id="24" name="文本框 23">
            <a:extLst>
              <a:ext uri="{FF2B5EF4-FFF2-40B4-BE49-F238E27FC236}">
                <a16:creationId xmlns:a16="http://schemas.microsoft.com/office/drawing/2014/main" id="{EFD40897-C9B3-35DE-9FB9-1637D5BED729}"/>
              </a:ext>
            </a:extLst>
          </p:cNvPr>
          <p:cNvSpPr txBox="1"/>
          <p:nvPr/>
        </p:nvSpPr>
        <p:spPr>
          <a:xfrm>
            <a:off x="8495395" y="2887501"/>
            <a:ext cx="2730450" cy="1345625"/>
          </a:xfrm>
          <a:prstGeom prst="rect">
            <a:avLst/>
          </a:prstGeom>
          <a:noFill/>
        </p:spPr>
        <p:txBody>
          <a:bodyPr wrap="square" rtlCol="0">
            <a:spAutoFit/>
          </a:bodyPr>
          <a:lstStyle/>
          <a:p>
            <a:pPr>
              <a:lnSpc>
                <a:spcPct val="130000"/>
              </a:lnSpc>
              <a:buClr>
                <a:schemeClr val="accent1"/>
              </a:buClr>
            </a:pPr>
            <a:r>
              <a:rPr lang="zh-CN" altLang="en-US" sz="1600" dirty="0"/>
              <a:t>把旋转、平移、缩放等几何先验写进网络，使特征和分割结果在群作用下保持一致。</a:t>
            </a:r>
          </a:p>
        </p:txBody>
      </p:sp>
      <p:sp>
        <p:nvSpPr>
          <p:cNvPr id="25" name="文本框 24">
            <a:extLst>
              <a:ext uri="{FF2B5EF4-FFF2-40B4-BE49-F238E27FC236}">
                <a16:creationId xmlns:a16="http://schemas.microsoft.com/office/drawing/2014/main" id="{2A1CAB32-9D6F-5583-32D5-142768078238}"/>
              </a:ext>
            </a:extLst>
          </p:cNvPr>
          <p:cNvSpPr txBox="1"/>
          <p:nvPr/>
        </p:nvSpPr>
        <p:spPr>
          <a:xfrm>
            <a:off x="4762691" y="2844796"/>
            <a:ext cx="2730450" cy="1345625"/>
          </a:xfrm>
          <a:prstGeom prst="rect">
            <a:avLst/>
          </a:prstGeom>
          <a:noFill/>
        </p:spPr>
        <p:txBody>
          <a:bodyPr wrap="square" rtlCol="0">
            <a:spAutoFit/>
          </a:bodyPr>
          <a:lstStyle/>
          <a:p>
            <a:pPr>
              <a:lnSpc>
                <a:spcPct val="130000"/>
              </a:lnSpc>
              <a:buClr>
                <a:schemeClr val="accent1"/>
              </a:buClr>
            </a:pPr>
            <a:r>
              <a:rPr lang="zh-CN" altLang="en-US" sz="1600" dirty="0"/>
              <a:t>在单位元附近描述“无穷小变换”，可以把旋转、平移等连续变化转化为局部线性扰动。</a:t>
            </a:r>
          </a:p>
        </p:txBody>
      </p:sp>
      <p:sp>
        <p:nvSpPr>
          <p:cNvPr id="26" name="文本框 25">
            <a:extLst>
              <a:ext uri="{FF2B5EF4-FFF2-40B4-BE49-F238E27FC236}">
                <a16:creationId xmlns:a16="http://schemas.microsoft.com/office/drawing/2014/main" id="{0D80115A-74D2-6A40-04C6-BA900CC7E8C1}"/>
              </a:ext>
            </a:extLst>
          </p:cNvPr>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27" name="文本框 26">
            <a:extLst>
              <a:ext uri="{FF2B5EF4-FFF2-40B4-BE49-F238E27FC236}">
                <a16:creationId xmlns:a16="http://schemas.microsoft.com/office/drawing/2014/main" id="{34BB6A05-7FFD-4BA3-83B4-92E733079F0F}"/>
              </a:ext>
            </a:extLst>
          </p:cNvPr>
          <p:cNvSpPr txBox="1"/>
          <p:nvPr/>
        </p:nvSpPr>
        <p:spPr>
          <a:xfrm>
            <a:off x="926195" y="2887501"/>
            <a:ext cx="2730450" cy="1025537"/>
          </a:xfrm>
          <a:prstGeom prst="rect">
            <a:avLst/>
          </a:prstGeom>
          <a:noFill/>
        </p:spPr>
        <p:txBody>
          <a:bodyPr wrap="square" rtlCol="0">
            <a:spAutoFit/>
          </a:bodyPr>
          <a:lstStyle/>
          <a:p>
            <a:pPr>
              <a:lnSpc>
                <a:spcPct val="130000"/>
              </a:lnSpc>
              <a:buClr>
                <a:schemeClr val="accent1"/>
              </a:buClr>
            </a:pPr>
            <a:r>
              <a:rPr lang="zh-CN" altLang="en-US" sz="1600" dirty="0"/>
              <a:t>连续变换的集合，例如 SO(2) 旋转群、SO(3) 三维旋转群、SE(3) 三维刚体运动群。</a:t>
            </a:r>
          </a:p>
        </p:txBody>
      </p:sp>
      <p:sp>
        <p:nvSpPr>
          <p:cNvPr id="28" name="AutoShape 21">
            <a:extLst>
              <a:ext uri="{FF2B5EF4-FFF2-40B4-BE49-F238E27FC236}">
                <a16:creationId xmlns:a16="http://schemas.microsoft.com/office/drawing/2014/main" id="{5D81A942-99B4-FC82-D561-30D80BC1748C}"/>
              </a:ext>
            </a:extLst>
          </p:cNvPr>
          <p:cNvSpPr/>
          <p:nvPr/>
        </p:nvSpPr>
        <p:spPr>
          <a:xfrm>
            <a:off x="8496300" y="4318000"/>
            <a:ext cx="2730500" cy="4318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16666"/>
              </a:lnSpc>
              <a:defRPr/>
            </a:pPr>
            <a:r>
              <a:rPr lang="en-US" sz="1800" b="1" i="1" u="none" strike="noStrike" dirty="0">
                <a:solidFill>
                  <a:srgbClr val="FF2525"/>
                </a:solidFill>
                <a:latin typeface="+mn-ea"/>
                <a:cs typeface="Noto Sans SC"/>
                <a:sym typeface="Noto Sans SC"/>
              </a:rPr>
              <a:t>exp: 𝔤 → G</a:t>
            </a:r>
          </a:p>
        </p:txBody>
      </p:sp>
    </p:spTree>
    <p:extLst>
      <p:ext uri="{BB962C8B-B14F-4D97-AF65-F5344CB8AC3E}">
        <p14:creationId xmlns:p14="http://schemas.microsoft.com/office/powerpoint/2010/main" val="41996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A8F7-E992-7951-5F56-1530713FAD5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31EC21F-206E-48C3-0714-B828F8C5D39A}"/>
              </a:ext>
            </a:extLst>
          </p:cNvPr>
          <p:cNvSpPr>
            <a:spLocks noGrp="1"/>
          </p:cNvSpPr>
          <p:nvPr>
            <p:ph type="body" sz="quarter" idx="13"/>
          </p:nvPr>
        </p:nvSpPr>
        <p:spPr/>
        <p:txBody>
          <a:bodyPr>
            <a:normAutofit lnSpcReduction="10000"/>
          </a:bodyPr>
          <a:lstStyle/>
          <a:p>
            <a:r>
              <a:rPr lang="zh-CN" altLang="en" dirty="0"/>
              <a:t>李群为什么适合分割任务？</a:t>
            </a:r>
          </a:p>
        </p:txBody>
      </p:sp>
      <p:sp>
        <p:nvSpPr>
          <p:cNvPr id="7" name="矩形 6">
            <a:extLst>
              <a:ext uri="{FF2B5EF4-FFF2-40B4-BE49-F238E27FC236}">
                <a16:creationId xmlns:a16="http://schemas.microsoft.com/office/drawing/2014/main" id="{BC7E1D31-B81F-DAEC-1D17-D04338780B28}"/>
              </a:ext>
            </a:extLst>
          </p:cNvPr>
          <p:cNvSpPr/>
          <p:nvPr/>
        </p:nvSpPr>
        <p:spPr>
          <a:xfrm>
            <a:off x="3717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A70FF22-F6E7-C050-0118-183CA971A324}"/>
              </a:ext>
            </a:extLst>
          </p:cNvPr>
          <p:cNvSpPr/>
          <p:nvPr/>
        </p:nvSpPr>
        <p:spPr>
          <a:xfrm>
            <a:off x="13144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01</a:t>
            </a:r>
          </a:p>
        </p:txBody>
      </p:sp>
      <p:sp>
        <p:nvSpPr>
          <p:cNvPr id="9" name="文本框 8">
            <a:extLst>
              <a:ext uri="{FF2B5EF4-FFF2-40B4-BE49-F238E27FC236}">
                <a16:creationId xmlns:a16="http://schemas.microsoft.com/office/drawing/2014/main" id="{F791FEBA-E523-4A52-F865-4E9093F5F4A8}"/>
              </a:ext>
            </a:extLst>
          </p:cNvPr>
          <p:cNvSpPr txBox="1"/>
          <p:nvPr/>
        </p:nvSpPr>
        <p:spPr>
          <a:xfrm>
            <a:off x="471260" y="325779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图像或点云旋转后，目标区域的语义标签不应改变；若输出是坐标/向量场，则应同步旋转。</a:t>
            </a:r>
          </a:p>
        </p:txBody>
      </p:sp>
      <p:sp>
        <p:nvSpPr>
          <p:cNvPr id="10" name="文本框 9">
            <a:extLst>
              <a:ext uri="{FF2B5EF4-FFF2-40B4-BE49-F238E27FC236}">
                <a16:creationId xmlns:a16="http://schemas.microsoft.com/office/drawing/2014/main" id="{AAF9E598-EB0B-2294-5E12-10CB33A4CAEE}"/>
              </a:ext>
            </a:extLst>
          </p:cNvPr>
          <p:cNvSpPr txBox="1"/>
          <p:nvPr/>
        </p:nvSpPr>
        <p:spPr>
          <a:xfrm>
            <a:off x="8146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保持标签一致</a:t>
            </a:r>
          </a:p>
        </p:txBody>
      </p:sp>
      <p:sp>
        <p:nvSpPr>
          <p:cNvPr id="11" name="矩形 10">
            <a:extLst>
              <a:ext uri="{FF2B5EF4-FFF2-40B4-BE49-F238E27FC236}">
                <a16:creationId xmlns:a16="http://schemas.microsoft.com/office/drawing/2014/main" id="{D5C9EB0C-7070-D718-1283-1B003767262E}"/>
              </a:ext>
            </a:extLst>
          </p:cNvPr>
          <p:cNvSpPr/>
          <p:nvPr/>
        </p:nvSpPr>
        <p:spPr>
          <a:xfrm>
            <a:off x="33181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A44E57F-8E69-0A37-1BBD-9B35C26EE9CB}"/>
              </a:ext>
            </a:extLst>
          </p:cNvPr>
          <p:cNvSpPr/>
          <p:nvPr/>
        </p:nvSpPr>
        <p:spPr>
          <a:xfrm>
            <a:off x="42608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02</a:t>
            </a:r>
          </a:p>
        </p:txBody>
      </p:sp>
      <p:sp>
        <p:nvSpPr>
          <p:cNvPr id="13" name="文本框 12">
            <a:extLst>
              <a:ext uri="{FF2B5EF4-FFF2-40B4-BE49-F238E27FC236}">
                <a16:creationId xmlns:a16="http://schemas.microsoft.com/office/drawing/2014/main" id="{8ED78A47-93F5-8F95-0956-8CA29A3DF58C}"/>
              </a:ext>
            </a:extLst>
          </p:cNvPr>
          <p:cNvSpPr txBox="1"/>
          <p:nvPr/>
        </p:nvSpPr>
        <p:spPr>
          <a:xfrm>
            <a:off x="34176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SO(3)/SE(3) 能自然描述三维旋转和平移，适合体数据、点云和机器人场景。</a:t>
            </a:r>
          </a:p>
        </p:txBody>
      </p:sp>
      <p:sp>
        <p:nvSpPr>
          <p:cNvPr id="14" name="文本框 13">
            <a:extLst>
              <a:ext uri="{FF2B5EF4-FFF2-40B4-BE49-F238E27FC236}">
                <a16:creationId xmlns:a16="http://schemas.microsoft.com/office/drawing/2014/main" id="{CDDB54C5-ECB4-3A11-6509-1E3045D61C63}"/>
              </a:ext>
            </a:extLst>
          </p:cNvPr>
          <p:cNvSpPr txBox="1"/>
          <p:nvPr/>
        </p:nvSpPr>
        <p:spPr>
          <a:xfrm>
            <a:off x="3761026" y="335615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建模三维姿态</a:t>
            </a:r>
          </a:p>
        </p:txBody>
      </p:sp>
      <p:sp>
        <p:nvSpPr>
          <p:cNvPr id="15" name="矩形 14">
            <a:extLst>
              <a:ext uri="{FF2B5EF4-FFF2-40B4-BE49-F238E27FC236}">
                <a16:creationId xmlns:a16="http://schemas.microsoft.com/office/drawing/2014/main" id="{BD88EF99-19B8-094A-CD94-A0CF5547DF06}"/>
              </a:ext>
            </a:extLst>
          </p:cNvPr>
          <p:cNvSpPr/>
          <p:nvPr/>
        </p:nvSpPr>
        <p:spPr>
          <a:xfrm>
            <a:off x="62645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2ED3DEE-2AB9-4D0B-3CF0-E304EBDFF360}"/>
              </a:ext>
            </a:extLst>
          </p:cNvPr>
          <p:cNvSpPr/>
          <p:nvPr/>
        </p:nvSpPr>
        <p:spPr>
          <a:xfrm>
            <a:off x="72072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03</a:t>
            </a:r>
          </a:p>
        </p:txBody>
      </p:sp>
      <p:sp>
        <p:nvSpPr>
          <p:cNvPr id="18" name="文本框 17">
            <a:extLst>
              <a:ext uri="{FF2B5EF4-FFF2-40B4-BE49-F238E27FC236}">
                <a16:creationId xmlns:a16="http://schemas.microsoft.com/office/drawing/2014/main" id="{D535D832-D986-16CE-C0DC-063012ADAE2F}"/>
              </a:ext>
            </a:extLst>
          </p:cNvPr>
          <p:cNvSpPr txBox="1"/>
          <p:nvPr/>
        </p:nvSpPr>
        <p:spPr>
          <a:xfrm>
            <a:off x="63640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几何约束相当于内置先验，在小样本医学分割、稀疏点云分割中尤其有价值。</a:t>
            </a:r>
          </a:p>
        </p:txBody>
      </p:sp>
      <p:sp>
        <p:nvSpPr>
          <p:cNvPr id="19" name="文本框 18">
            <a:extLst>
              <a:ext uri="{FF2B5EF4-FFF2-40B4-BE49-F238E27FC236}">
                <a16:creationId xmlns:a16="http://schemas.microsoft.com/office/drawing/2014/main" id="{CD73903E-A7EE-DF57-6CF1-8C60D5E47DF1}"/>
              </a:ext>
            </a:extLst>
          </p:cNvPr>
          <p:cNvSpPr txBox="1"/>
          <p:nvPr/>
        </p:nvSpPr>
        <p:spPr>
          <a:xfrm>
            <a:off x="67074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降低数据依赖</a:t>
            </a:r>
          </a:p>
        </p:txBody>
      </p:sp>
      <p:sp>
        <p:nvSpPr>
          <p:cNvPr id="20" name="矩形 19">
            <a:extLst>
              <a:ext uri="{FF2B5EF4-FFF2-40B4-BE49-F238E27FC236}">
                <a16:creationId xmlns:a16="http://schemas.microsoft.com/office/drawing/2014/main" id="{85E407BE-5009-9594-C149-720A8D35469D}"/>
              </a:ext>
            </a:extLst>
          </p:cNvPr>
          <p:cNvSpPr/>
          <p:nvPr/>
        </p:nvSpPr>
        <p:spPr>
          <a:xfrm>
            <a:off x="92109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CB25035B-E2A4-2427-35DB-1100DD6F75CF}"/>
              </a:ext>
            </a:extLst>
          </p:cNvPr>
          <p:cNvSpPr/>
          <p:nvPr/>
        </p:nvSpPr>
        <p:spPr>
          <a:xfrm>
            <a:off x="101536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04</a:t>
            </a:r>
          </a:p>
        </p:txBody>
      </p:sp>
      <p:sp>
        <p:nvSpPr>
          <p:cNvPr id="22" name="文本框 21">
            <a:extLst>
              <a:ext uri="{FF2B5EF4-FFF2-40B4-BE49-F238E27FC236}">
                <a16:creationId xmlns:a16="http://schemas.microsoft.com/office/drawing/2014/main" id="{16EA9796-87EA-6D75-FEDD-90546AB0911D}"/>
              </a:ext>
            </a:extLst>
          </p:cNvPr>
          <p:cNvSpPr txBox="1"/>
          <p:nvPr/>
        </p:nvSpPr>
        <p:spPr>
          <a:xfrm>
            <a:off x="93104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模型不再只记住训练集中的朝向，而是学习对连续变换稳定的结构表示。</a:t>
            </a:r>
          </a:p>
        </p:txBody>
      </p:sp>
      <p:sp>
        <p:nvSpPr>
          <p:cNvPr id="23" name="文本框 22">
            <a:extLst>
              <a:ext uri="{FF2B5EF4-FFF2-40B4-BE49-F238E27FC236}">
                <a16:creationId xmlns:a16="http://schemas.microsoft.com/office/drawing/2014/main" id="{954A38D1-FF5A-77BE-7CEB-5E50A8E73F55}"/>
              </a:ext>
            </a:extLst>
          </p:cNvPr>
          <p:cNvSpPr txBox="1"/>
          <p:nvPr/>
        </p:nvSpPr>
        <p:spPr>
          <a:xfrm>
            <a:off x="9525586" y="3356159"/>
            <a:ext cx="1980029" cy="400110"/>
          </a:xfrm>
          <a:prstGeom prst="rect">
            <a:avLst/>
          </a:prstGeom>
          <a:noFill/>
        </p:spPr>
        <p:txBody>
          <a:bodyPr wrap="none" rtlCol="0">
            <a:spAutoFit/>
          </a:bodyPr>
          <a:lstStyle/>
          <a:p>
            <a:pPr algn="ctr"/>
            <a:r>
              <a:rPr lang="zh-CN" altLang="en-US" sz="2000" b="1" dirty="0">
                <a:solidFill>
                  <a:schemeClr val="accent1"/>
                </a:solidFill>
                <a:latin typeface="+mj-ea"/>
                <a:ea typeface="+mj-ea"/>
              </a:rPr>
              <a:t>提升泛化鲁棒性</a:t>
            </a:r>
          </a:p>
        </p:txBody>
      </p:sp>
    </p:spTree>
    <p:extLst>
      <p:ext uri="{BB962C8B-B14F-4D97-AF65-F5344CB8AC3E}">
        <p14:creationId xmlns:p14="http://schemas.microsoft.com/office/powerpoint/2010/main" val="3988852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2C05-8C17-A413-BA51-A9F1DF9E24D2}"/>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4F6A5962-1ABE-5230-A70A-A5E936D52CFF}"/>
              </a:ext>
            </a:extLst>
          </p:cNvPr>
          <p:cNvSpPr>
            <a:spLocks noGrp="1"/>
          </p:cNvSpPr>
          <p:nvPr>
            <p:ph type="body" sz="quarter" idx="13"/>
          </p:nvPr>
        </p:nvSpPr>
        <p:spPr>
          <a:xfrm>
            <a:off x="1029155" y="335402"/>
            <a:ext cx="6325801" cy="469897"/>
          </a:xfrm>
        </p:spPr>
        <p:txBody>
          <a:bodyPr>
            <a:normAutofit lnSpcReduction="10000"/>
          </a:bodyPr>
          <a:lstStyle/>
          <a:p>
            <a:r>
              <a:rPr lang="zh-CN" altLang="en-US" dirty="0"/>
              <a:t>应用案例</a:t>
            </a:r>
          </a:p>
        </p:txBody>
      </p:sp>
      <p:sp>
        <p:nvSpPr>
          <p:cNvPr id="2" name="文本框 1">
            <a:extLst>
              <a:ext uri="{FF2B5EF4-FFF2-40B4-BE49-F238E27FC236}">
                <a16:creationId xmlns:a16="http://schemas.microsoft.com/office/drawing/2014/main" id="{291E544A-4DCA-F06E-D6AD-734490FE988F}"/>
              </a:ext>
            </a:extLst>
          </p:cNvPr>
          <p:cNvSpPr txBox="1"/>
          <p:nvPr/>
        </p:nvSpPr>
        <p:spPr>
          <a:xfrm>
            <a:off x="621442" y="1082807"/>
            <a:ext cx="10949115" cy="422039"/>
          </a:xfrm>
          <a:prstGeom prst="rect">
            <a:avLst/>
          </a:prstGeom>
          <a:noFill/>
        </p:spPr>
        <p:txBody>
          <a:bodyPr wrap="square" rtlCol="0">
            <a:spAutoFit/>
          </a:bodyPr>
          <a:lstStyle/>
          <a:p>
            <a:pPr>
              <a:lnSpc>
                <a:spcPct val="130000"/>
              </a:lnSpc>
              <a:buClr>
                <a:schemeClr val="accent1"/>
              </a:buClr>
            </a:pPr>
            <a:r>
              <a:rPr lang="zh-CN" altLang="en" dirty="0"/>
              <a:t>李群方法在分割任务中的价值，主要体现在把几何对称性转化为网络结构先验。</a:t>
            </a:r>
          </a:p>
        </p:txBody>
      </p:sp>
      <p:sp>
        <p:nvSpPr>
          <p:cNvPr id="3" name="文本框 2">
            <a:extLst>
              <a:ext uri="{FF2B5EF4-FFF2-40B4-BE49-F238E27FC236}">
                <a16:creationId xmlns:a16="http://schemas.microsoft.com/office/drawing/2014/main" id="{A6D69C63-0C32-FF2A-5F62-4227EC4CA018}"/>
              </a:ext>
            </a:extLst>
          </p:cNvPr>
          <p:cNvSpPr txBox="1"/>
          <p:nvPr/>
        </p:nvSpPr>
        <p:spPr>
          <a:xfrm>
            <a:off x="621442" y="1782354"/>
            <a:ext cx="9190397" cy="1862433"/>
          </a:xfrm>
          <a:prstGeom prst="rect">
            <a:avLst/>
          </a:prstGeom>
          <a:noFill/>
        </p:spPr>
        <p:txBody>
          <a:bodyPr wrap="square" rtlCol="0">
            <a:spAutoFit/>
          </a:bodyPr>
          <a:lstStyle/>
          <a:p>
            <a:pPr>
              <a:lnSpc>
                <a:spcPct val="130000"/>
              </a:lnSpc>
              <a:buClr>
                <a:schemeClr val="accent1"/>
              </a:buClr>
            </a:pPr>
            <a:r>
              <a:rPr lang="en-US" altLang="zh-CN" dirty="0"/>
              <a:t>医学图像分割：SE(3) 群卷积网络（Frontiers in AI, 2025）</a:t>
            </a:r>
          </a:p>
          <a:p>
            <a:pPr>
              <a:lnSpc>
                <a:spcPct val="130000"/>
              </a:lnSpc>
              <a:buClr>
                <a:schemeClr val="accent1"/>
              </a:buClr>
            </a:pPr>
            <a:r>
              <a:rPr lang="en-US" altLang="zh-CN" dirty="0"/>
              <a:t>面向 DWI / 体数据分割</a:t>
            </a:r>
          </a:p>
          <a:p>
            <a:pPr>
              <a:lnSpc>
                <a:spcPct val="130000"/>
              </a:lnSpc>
              <a:buClr>
                <a:schemeClr val="accent1"/>
              </a:buClr>
            </a:pPr>
            <a:r>
              <a:rPr lang="en-US" altLang="zh-CN" dirty="0"/>
              <a:t>比较 SO(3)、平移与 SE(3) 群卷积</a:t>
            </a:r>
          </a:p>
          <a:p>
            <a:pPr>
              <a:lnSpc>
                <a:spcPct val="130000"/>
              </a:lnSpc>
              <a:buClr>
                <a:schemeClr val="accent1"/>
              </a:buClr>
            </a:pPr>
            <a:r>
              <a:rPr lang="en-US" altLang="zh-CN" dirty="0"/>
              <a:t>关注旋转鲁棒性与泛化能力</a:t>
            </a:r>
          </a:p>
          <a:p>
            <a:pPr>
              <a:lnSpc>
                <a:spcPct val="130000"/>
              </a:lnSpc>
              <a:buClr>
                <a:schemeClr val="accent1"/>
              </a:buClr>
            </a:pPr>
            <a:r>
              <a:rPr lang="en-US" altLang="zh-CN" dirty="0"/>
              <a:t>说明群等变先验可服务稀缺医学标注</a:t>
            </a:r>
          </a:p>
        </p:txBody>
      </p:sp>
      <p:sp>
        <p:nvSpPr>
          <p:cNvPr id="4" name="文本框 3">
            <a:extLst>
              <a:ext uri="{FF2B5EF4-FFF2-40B4-BE49-F238E27FC236}">
                <a16:creationId xmlns:a16="http://schemas.microsoft.com/office/drawing/2014/main" id="{7D197F8C-A111-BBB2-496D-956E14EDF621}"/>
              </a:ext>
            </a:extLst>
          </p:cNvPr>
          <p:cNvSpPr txBox="1"/>
          <p:nvPr/>
        </p:nvSpPr>
        <p:spPr>
          <a:xfrm>
            <a:off x="561969" y="3922295"/>
            <a:ext cx="9190397" cy="1862433"/>
          </a:xfrm>
          <a:prstGeom prst="rect">
            <a:avLst/>
          </a:prstGeom>
          <a:noFill/>
        </p:spPr>
        <p:txBody>
          <a:bodyPr wrap="square" rtlCol="0">
            <a:spAutoFit/>
          </a:bodyPr>
          <a:lstStyle/>
          <a:p>
            <a:pPr>
              <a:lnSpc>
                <a:spcPct val="130000"/>
              </a:lnSpc>
              <a:buClr>
                <a:schemeClr val="accent1"/>
              </a:buClr>
            </a:pPr>
            <a:r>
              <a:rPr lang="en-US" altLang="zh-CN" dirty="0"/>
              <a:t>通用分割框架：群等变 U-Net 与点云 E(3) 等变分割</a:t>
            </a:r>
          </a:p>
          <a:p>
            <a:pPr>
              <a:lnSpc>
                <a:spcPct val="130000"/>
              </a:lnSpc>
              <a:buClr>
                <a:schemeClr val="accent1"/>
              </a:buClr>
            </a:pPr>
            <a:r>
              <a:rPr lang="en-US" altLang="zh-CN" dirty="0"/>
              <a:t>GER-UNet：利用旋转/反射对称性改造医学分割</a:t>
            </a:r>
          </a:p>
          <a:p>
            <a:pPr>
              <a:lnSpc>
                <a:spcPct val="130000"/>
              </a:lnSpc>
              <a:buClr>
                <a:schemeClr val="accent1"/>
              </a:buClr>
            </a:pPr>
            <a:r>
              <a:rPr lang="en-US" altLang="zh-CN" dirty="0"/>
              <a:t>APEN：面向三维点云的局部分块 E(3) 等变</a:t>
            </a:r>
          </a:p>
          <a:p>
            <a:pPr>
              <a:lnSpc>
                <a:spcPct val="130000"/>
              </a:lnSpc>
              <a:buClr>
                <a:schemeClr val="accent1"/>
              </a:buClr>
            </a:pPr>
            <a:r>
              <a:rPr lang="en-US" altLang="zh-CN" dirty="0"/>
              <a:t>从 2D/3D 图像扩展到点云场景</a:t>
            </a:r>
          </a:p>
          <a:p>
            <a:pPr>
              <a:lnSpc>
                <a:spcPct val="130000"/>
              </a:lnSpc>
              <a:buClr>
                <a:schemeClr val="accent1"/>
              </a:buClr>
            </a:pPr>
            <a:r>
              <a:rPr lang="en-US" altLang="zh-CN" dirty="0"/>
              <a:t>共同目标是保持局部几何结构</a:t>
            </a:r>
          </a:p>
        </p:txBody>
      </p:sp>
      <p:sp>
        <p:nvSpPr>
          <p:cNvPr id="5" name="文本框 4">
            <a:extLst>
              <a:ext uri="{FF2B5EF4-FFF2-40B4-BE49-F238E27FC236}">
                <a16:creationId xmlns:a16="http://schemas.microsoft.com/office/drawing/2014/main" id="{C5C57435-A411-34EC-69EE-44A5D40BA607}"/>
              </a:ext>
            </a:extLst>
          </p:cNvPr>
          <p:cNvSpPr txBox="1"/>
          <p:nvPr/>
        </p:nvSpPr>
        <p:spPr>
          <a:xfrm>
            <a:off x="621442" y="6016873"/>
            <a:ext cx="10949115" cy="369332"/>
          </a:xfrm>
          <a:prstGeom prst="rect">
            <a:avLst/>
          </a:prstGeom>
          <a:noFill/>
        </p:spPr>
        <p:txBody>
          <a:bodyPr wrap="square" rtlCol="0">
            <a:spAutoFit/>
          </a:bodyPr>
          <a:lstStyle/>
          <a:p>
            <a:r>
              <a:rPr lang="zh-CN" altLang="en-US" b="1" dirty="0"/>
              <a:t>这些案例共同体现：李群机器学习能让分割模型尊重输入空间的几何对称性。</a:t>
            </a:r>
          </a:p>
        </p:txBody>
      </p:sp>
    </p:spTree>
    <p:extLst>
      <p:ext uri="{BB962C8B-B14F-4D97-AF65-F5344CB8AC3E}">
        <p14:creationId xmlns:p14="http://schemas.microsoft.com/office/powerpoint/2010/main" val="57044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1C65-88E2-B224-F0B2-63C0879B1028}"/>
            </a:ext>
          </a:extLst>
        </p:cNvPr>
        <p:cNvGrpSpPr/>
        <p:nvPr/>
      </p:nvGrpSpPr>
      <p:grpSpPr>
        <a:xfrm>
          <a:off x="0" y="0"/>
          <a:ext cx="0" cy="0"/>
          <a:chOff x="0" y="0"/>
          <a:chExt cx="0" cy="0"/>
        </a:xfrm>
      </p:grpSpPr>
      <p:sp>
        <p:nvSpPr>
          <p:cNvPr id="9010" name="restyle-accent">
            <a:extLst>
              <a:ext uri="{FF2B5EF4-FFF2-40B4-BE49-F238E27FC236}">
                <a16:creationId xmlns:a16="http://schemas.microsoft.com/office/drawing/2014/main" id="{29AEC7F3-02E6-364A-FDDD-2BD821A9BCF6}"/>
              </a:ext>
            </a:extLst>
          </p:cNvPr>
          <p:cNvSpPr/>
          <p:nvPr/>
        </p:nvSpPr>
        <p:spPr>
          <a:solidFill>
            <a:srgbClr val="930000"/>
          </a:solidFill>
          <a:xfrm>
            <a:off x="820000" y="1050000"/>
            <a:ext cx="210000" cy="5050000"/>
          </a:xfrm>
          <a:prstGeom prst="rect">
            <a:avLst/>
          </a:prstGeom>
          <a:ln w="0">
            <a:solidFill>
              <a:srgbClr val="930000"/>
            </a:solidFill>
          </a:ln>
        </p:spPr>
        <p:txBody>
          <a:bodyPr vert="horz" wrap="square" lIns="0" tIns="0" rIns="0" bIns="0" rtlCol="0" anchor="ctr" anchorCtr="0"/>
          <a:lstStyle/>
        </p:txBody>
      </p:sp>
      <p:sp>
        <p:nvSpPr>
          <p:cNvPr id="16" name="文本占位符 15">
            <a:extLst>
              <a:ext uri="{FF2B5EF4-FFF2-40B4-BE49-F238E27FC236}">
                <a16:creationId xmlns:a16="http://schemas.microsoft.com/office/drawing/2014/main" id="{CD217FC7-30D4-4797-7453-4AEEBEB092BC}"/>
              </a:ext>
            </a:extLst>
          </p:cNvPr>
          <p:cNvSpPr>
            <a:spLocks noGrp="1"/>
          </p:cNvSpPr>
          <p:nvPr>
            <p:ph type="body" sz="quarter" idx="13"/>
          </p:nvPr>
        </p:nvSpPr>
        <p:spPr>
          <a:xfrm>
            <a:off x="850000" y="330000"/>
            <a:ext cx="8200000" cy="520000"/>
          </a:xfrm>
        </p:spPr>
        <p:txBody>
          <a:bodyPr>
            <a:normAutofit lnSpcReduction="10000"/>
          </a:bodyPr>
          <a:lstStyle/>
          <a:p>
            <a:r>
              <a:rPr lang="en-US" altLang="zh-CN" dirty="0" sz="3000" b="1">
                <a:solidFill>
                  <a:srgbClr val="1F2329"/>
                </a:solidFill>
              </a:rPr>
              <a:t>案例一：SE(3) 群卷积用于 DWI 医学图像分割（2025）</a:t>
            </a:r>
          </a:p>
        </p:txBody>
      </p:sp>
      <p:sp>
        <p:nvSpPr>
          <p:cNvPr id="8" name="文本框 7">
            <a:extLst>
              <a:ext uri="{FF2B5EF4-FFF2-40B4-BE49-F238E27FC236}">
                <a16:creationId xmlns:a16="http://schemas.microsoft.com/office/drawing/2014/main" id="{767BC9C1-38A9-86B1-3C07-D4E8A52A2F05}"/>
              </a:ext>
            </a:extLst>
          </p:cNvPr>
          <p:cNvSpPr txBox="1"/>
          <p:nvPr/>
        </p:nvSpPr>
        <p:spPr>
          <a:solidFill>
            <a:srgbClr val="930000"/>
          </a:solidFill>
          <a:xfrm>
            <a:off x="6100000" y="5000000"/>
            <a:ext cx="4860000" cy="520000"/>
          </a:xfrm>
          <a:prstGeom prst="rect">
            <a:avLst/>
          </a:prstGeom>
          <a:ln w="0">
            <a:solidFill>
              <a:srgbClr val="930000"/>
            </a:solidFill>
          </a:ln>
        </p:spPr>
        <p:txBody>
          <a:bodyPr wrap="square" rtlCol="0">
            <a:spAutoFit/>
          </a:bodyPr>
          <a:lstStyle/>
          <a:p>
            <a:r>
              <a:rPr lang="zh-CN" altLang="en-US" sz="1900" b="1" dirty="0">
                <a:solidFill>
                  <a:srgbClr val="FFFFFF"/>
                </a:solidFill>
              </a:rPr>
              <a:t>核心价值：从“靠增强记住姿态”升级为“模型结构内置几何一致性”</a:t>
            </a:r>
          </a:p>
        </p:txBody>
      </p:sp>
      <p:sp>
        <p:nvSpPr>
          <p:cNvPr id="21" name="AutoShape 6">
            <a:extLst>
              <a:ext uri="{FF2B5EF4-FFF2-40B4-BE49-F238E27FC236}">
                <a16:creationId xmlns:a16="http://schemas.microsoft.com/office/drawing/2014/main" id="{E9E057A2-45D0-75B5-BDB6-8879DC202E3C}"/>
              </a:ext>
            </a:extLst>
          </p:cNvPr>
          <p:cNvSpPr/>
          <p:nvPr/>
        </p:nvSpPr>
        <p:spPr>
          <a:xfrm>
            <a:off x="635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2" name="AutoShape 7">
            <a:extLst>
              <a:ext uri="{FF2B5EF4-FFF2-40B4-BE49-F238E27FC236}">
                <a16:creationId xmlns:a16="http://schemas.microsoft.com/office/drawing/2014/main" id="{00F0A58A-3A62-3C86-05CF-37B08293B474}"/>
              </a:ext>
            </a:extLst>
          </p:cNvPr>
          <p:cNvSpPr/>
          <p:nvPr/>
        </p:nvSpPr>
        <p:spPr>
          <a:xfrm>
            <a:off x="635000" y="1397000"/>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8">
            <a:extLst>
              <a:ext uri="{FF2B5EF4-FFF2-40B4-BE49-F238E27FC236}">
                <a16:creationId xmlns:a16="http://schemas.microsoft.com/office/drawing/2014/main" id="{29AEC7F3-02E6-364A-FDDD-2BD821A9BCF6}"/>
              </a:ext>
            </a:extLst>
          </p:cNvPr>
          <p:cNvSpPr/>
          <p:nvPr/>
        </p:nvSpPr>
        <p:spPr>
          <a:solidFill>
            <a:srgbClr val="FFFFFF"/>
          </a:solidFill>
          <a:xfrm>
            <a:off x="1220000" y="1250000"/>
            <a:ext cx="4050000" cy="156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en-US" sz="1900" b="1" i="0" u="none" strike="noStrike" dirty="0">
                <a:ea typeface="Noto Sans SC"/>
                <a:cs typeface="Noto Sans SC"/>
                <a:sym typeface="Noto Sans SC"/>
                <a:solidFill>
                  <a:srgbClr val="333333"/>
                </a:solidFill>
              </a:rPr>
              <a:t>医学分割的几何挑战</a:t>
            </a:r>
          </a:p>
          <a:p>
            <a:pPr indent="0" algn="l">
              <a:lnSpc>
                <a:spcPct val="108333"/>
              </a:lnSpc>
              <a:defRPr/>
            </a:pPr>
            <a:r>
              <a:rPr lang="en-US" sz="1900" b="1" i="0" u="none" strike="noStrike" dirty="0">
                <a:ea typeface="Noto Sans SC"/>
                <a:cs typeface="Noto Sans SC"/>
                <a:sym typeface="Noto Sans SC"/>
                <a:solidFill>
                  <a:srgbClr val="333333"/>
                </a:solidFill>
              </a:rPr>
              <a:t>• DWI 等三维医学数据存在方向差异和扫描姿态变化。</a:t>
            </a:r>
          </a:p>
          <a:p>
            <a:pPr indent="0" algn="l">
              <a:lnSpc>
                <a:spcPct val="108333"/>
              </a:lnSpc>
              <a:defRPr/>
            </a:pPr>
            <a:r>
              <a:rPr lang="en-US" sz="1900" b="1" i="0" u="none" strike="noStrike" dirty="0">
                <a:ea typeface="Noto Sans SC"/>
                <a:cs typeface="Noto Sans SC"/>
                <a:sym typeface="Noto Sans SC"/>
                <a:solidFill>
                  <a:srgbClr val="333333"/>
                </a:solidFill>
              </a:rPr>
              <a:t>• 目标区域的类别不应因为整体旋转或平移而改变。</a:t>
            </a:r>
          </a:p>
        </p:txBody>
      </p:sp>
      <p:sp>
        <p:nvSpPr>
          <p:cNvPr id="24" name="AutoShape 9">
            <a:extLst>
              <a:ext uri="{FF2B5EF4-FFF2-40B4-BE49-F238E27FC236}">
                <a16:creationId xmlns:a16="http://schemas.microsoft.com/office/drawing/2014/main" id="{55F3F690-2850-5082-5A61-59BBCDF7C39A}"/>
              </a:ext>
            </a:extLst>
          </p:cNvPr>
          <p:cNvSpPr/>
          <p:nvPr/>
        </p:nvSpPr>
        <p:spPr>
          <a:xfrm>
            <a:off x="6223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5" name="AutoShape 10">
            <a:extLst>
              <a:ext uri="{FF2B5EF4-FFF2-40B4-BE49-F238E27FC236}">
                <a16:creationId xmlns:a16="http://schemas.microsoft.com/office/drawing/2014/main" id="{16336D16-BE95-BE2D-3FAA-6AA99585C159}"/>
              </a:ext>
            </a:extLst>
          </p:cNvPr>
          <p:cNvSpPr/>
          <p:nvPr/>
        </p:nvSpPr>
        <p:spPr>
          <a:xfrm>
            <a:off x="6223000" y="1397000"/>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53EB5B6F-91D3-B57E-99C6-A057C8FED972}"/>
              </a:ext>
            </a:extLst>
          </p:cNvPr>
          <p:cNvSpPr/>
          <p:nvPr/>
        </p:nvSpPr>
        <p:spPr>
          <a:solidFill>
            <a:srgbClr val="FFFFFF"/>
          </a:solidFill>
          <a:xfrm>
            <a:off x="1220000" y="3350000"/>
            <a:ext cx="4050000" cy="156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en-US" sz="1900" b="1" i="0" u="none" strike="noStrike" dirty="0">
                <a:ea typeface="Noto Sans SC"/>
                <a:cs typeface="Noto Sans SC"/>
                <a:sym typeface="Noto Sans SC"/>
                <a:solidFill>
                  <a:srgbClr val="333333"/>
                </a:solidFill>
              </a:rPr>
              <a:t>普通 U-Net 的不足</a:t>
            </a:r>
          </a:p>
          <a:p>
            <a:pPr indent="0" algn="l">
              <a:lnSpc>
                <a:spcPct val="108333"/>
              </a:lnSpc>
              <a:defRPr/>
            </a:pPr>
            <a:r>
              <a:rPr lang="en-US" sz="1900" b="1" i="0" u="none" strike="noStrike" dirty="0">
                <a:ea typeface="Noto Sans SC"/>
                <a:cs typeface="Noto Sans SC"/>
                <a:sym typeface="Noto Sans SC"/>
                <a:solidFill>
                  <a:srgbClr val="333333"/>
                </a:solidFill>
              </a:rPr>
              <a:t>• 主要依赖平移等变性，对三维旋转没有天然保证。</a:t>
            </a:r>
          </a:p>
          <a:p>
            <a:pPr indent="0" algn="l">
              <a:lnSpc>
                <a:spcPct val="108333"/>
              </a:lnSpc>
              <a:defRPr/>
            </a:pPr>
            <a:r>
              <a:rPr lang="en-US" sz="1900" b="1" i="0" u="none" strike="noStrike" dirty="0">
                <a:ea typeface="Noto Sans SC"/>
                <a:cs typeface="Noto Sans SC"/>
                <a:sym typeface="Noto Sans SC"/>
                <a:solidFill>
                  <a:srgbClr val="333333"/>
                </a:solidFill>
              </a:rPr>
              <a:t>• 旋转增强只能近似覆盖变化，不能给出严格结构约束。</a:t>
            </a:r>
          </a:p>
        </p:txBody>
      </p:sp>
      <p:sp>
        <p:nvSpPr>
          <p:cNvPr id="27" name="AutoShape 12">
            <a:extLst>
              <a:ext uri="{FF2B5EF4-FFF2-40B4-BE49-F238E27FC236}">
                <a16:creationId xmlns:a16="http://schemas.microsoft.com/office/drawing/2014/main" id="{AE57CB1F-FF94-096C-06C7-204E6BDD313F}"/>
              </a:ext>
            </a:extLst>
          </p:cNvPr>
          <p:cNvSpPr/>
          <p:nvPr/>
        </p:nvSpPr>
        <p:spPr>
          <a:xfrm>
            <a:off x="642434" y="3937000"/>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28" name="Picture 13">
            <a:extLst>
              <a:ext uri="{FF2B5EF4-FFF2-40B4-BE49-F238E27FC236}">
                <a16:creationId xmlns:a16="http://schemas.microsoft.com/office/drawing/2014/main" id="{61ECA4CB-69C3-84E7-D060-66100A8530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254500"/>
            <a:ext cx="762000" cy="762000"/>
          </a:xfrm>
          <a:prstGeom prst="rect">
            <a:avLst/>
          </a:prstGeom>
        </p:spPr>
      </p:pic>
      <p:sp>
        <p:nvSpPr>
          <p:cNvPr id="29" name="AutoShape 14">
            <a:extLst>
              <a:ext uri="{FF2B5EF4-FFF2-40B4-BE49-F238E27FC236}">
                <a16:creationId xmlns:a16="http://schemas.microsoft.com/office/drawing/2014/main" id="{AAD2DBD1-D308-BDE2-8592-9BF4CEA0F90E}"/>
              </a:ext>
            </a:extLst>
          </p:cNvPr>
          <p:cNvSpPr/>
          <p:nvPr/>
        </p:nvSpPr>
        <p:spPr>
          <a:solidFill>
            <a:srgbClr val="F7F1F1"/>
          </a:solidFill>
          <a:xfrm>
            <a:off x="6100000" y="1420000"/>
            <a:ext cx="4860000" cy="2920000"/>
          </a:xfrm>
          <a:prstGeom prst="rect">
            <a:avLst/>
          </a:prstGeom>
          <a:ln w="9000">
            <a:solidFill>
              <a:srgbClr val="C43030"/>
            </a:solidFill>
          </a:ln>
        </p:spPr>
        <p:txBody>
          <a:bodyPr vert="horz" wrap="square" lIns="137160" tIns="91440" rIns="137160" bIns="91440" rtlCol="0" anchor="ctr" anchorCtr="0"/>
          <a:lstStyle/>
          <a:p>
            <a:pPr indent="0" algn="l">
              <a:lnSpc>
                <a:spcPct val="108333"/>
              </a:lnSpc>
              <a:defRPr/>
            </a:pPr>
            <a:r>
              <a:rPr lang="en-US" sz="2000" b="1" i="0" u="none" strike="noStrike" dirty="0">
                <a:ea typeface="Noto Sans SC"/>
                <a:cs typeface="Noto Sans SC"/>
                <a:sym typeface="Noto Sans SC"/>
                <a:solidFill>
                  <a:srgbClr val="333333"/>
                </a:solidFill>
              </a:rPr>
              <a:t>研究目标：SE(3) 群卷积框架</a:t>
            </a:r>
          </a:p>
          <a:p>
            <a:pPr indent="0" algn="l">
              <a:lnSpc>
                <a:spcPct val="108333"/>
              </a:lnSpc>
              <a:defRPr/>
            </a:pPr>
            <a:r>
              <a:rPr lang="en-US" sz="2000" b="1" i="0" u="none" strike="noStrike" dirty="0">
                <a:ea typeface="Noto Sans SC"/>
                <a:cs typeface="Noto Sans SC"/>
                <a:sym typeface="Noto Sans SC"/>
                <a:solidFill>
                  <a:srgbClr val="333333"/>
                </a:solidFill>
              </a:rPr>
              <a:t>把三维旋转和平移作为群作用引入卷积特征，使网络在体数据分割中更稳定地处理不同姿态，并系统比较普通卷积、SO(3) 与 SE(3) 群卷积的差异。</a:t>
            </a:r>
          </a:p>
        </p:txBody>
      </p:sp>
    </p:spTree>
    <p:extLst>
      <p:ext uri="{BB962C8B-B14F-4D97-AF65-F5344CB8AC3E}">
        <p14:creationId xmlns:p14="http://schemas.microsoft.com/office/powerpoint/2010/main" val="4109407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8268-92C3-65AA-E429-BBC41F06991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98065E05-1557-8A1C-FB71-4AA03A8D5D6D}"/>
              </a:ext>
            </a:extLst>
          </p:cNvPr>
          <p:cNvSpPr>
            <a:spLocks noGrp="1"/>
          </p:cNvSpPr>
          <p:nvPr>
            <p:ph type="body" sz="quarter" idx="13"/>
          </p:nvPr>
        </p:nvSpPr>
        <p:spPr>
          <a:xfrm>
            <a:off x="850000" y="330000"/>
            <a:ext cx="7600000" cy="520000"/>
          </a:xfrm>
        </p:spPr>
        <p:txBody>
          <a:bodyPr>
            <a:normAutofit lnSpcReduction="10000"/>
          </a:bodyPr>
          <a:lstStyle/>
          <a:p>
            <a:r>
              <a:rPr lang="en-US" altLang="zh-CN" dirty="0" sz="3000" b="1">
                <a:solidFill>
                  <a:srgbClr val="1F2329"/>
                </a:solidFill>
              </a:rPr>
              <a:t>SE(3) 群卷积核心思想：在群空间中提取特征</a:t>
            </a:r>
          </a:p>
        </p:txBody>
      </p:sp>
      <p:sp>
        <p:nvSpPr>
          <p:cNvPr id="2" name="矩形: 圆角 1">
            <a:extLst>
              <a:ext uri="{FF2B5EF4-FFF2-40B4-BE49-F238E27FC236}">
                <a16:creationId xmlns:a16="http://schemas.microsoft.com/office/drawing/2014/main" id="{50F5899D-AA74-B268-9045-AB4B8ADDBBA0}"/>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3" name="矩形: 圆顶角 2">
            <a:extLst>
              <a:ext uri="{FF2B5EF4-FFF2-40B4-BE49-F238E27FC236}">
                <a16:creationId xmlns:a16="http://schemas.microsoft.com/office/drawing/2014/main" id="{4A43957F-2572-FDF9-D25B-C187329A5E20}"/>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862EE537-AE06-1283-A383-2D1B8EF3DAE4}"/>
              </a:ext>
            </a:extLst>
          </p:cNvPr>
          <p:cNvSpPr txBox="1"/>
          <p:nvPr/>
        </p:nvSpPr>
        <p:spPr>
          <a:xfrm>
            <a:off x="110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输入体数据</a:t>
            </a:r>
          </a:p>
        </p:txBody>
      </p:sp>
      <p:sp>
        <p:nvSpPr>
          <p:cNvPr id="5" name="文本框 4">
            <a:extLst>
              <a:ext uri="{FF2B5EF4-FFF2-40B4-BE49-F238E27FC236}">
                <a16:creationId xmlns:a16="http://schemas.microsoft.com/office/drawing/2014/main" id="{4C7DB12A-8DB0-748C-23B5-10CDBCD3429B}"/>
              </a:ext>
            </a:extLst>
          </p:cNvPr>
          <p:cNvSpPr txBox="1"/>
          <p:nvPr/>
        </p:nvSpPr>
        <p:spPr>
          <a:solidFill>
            <a:srgbClr val="930000"/>
          </a:solidFill>
          <a:xfrm>
            <a:off x="95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01</a:t>
            </a:r>
          </a:p>
        </p:txBody>
      </p:sp>
      <p:sp>
        <p:nvSpPr>
          <p:cNvPr id="6" name="矩形: 圆角 5">
            <a:extLst>
              <a:ext uri="{FF2B5EF4-FFF2-40B4-BE49-F238E27FC236}">
                <a16:creationId xmlns:a16="http://schemas.microsoft.com/office/drawing/2014/main" id="{3C34998B-D79C-0E8A-70A1-FFF0D331F6E3}"/>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7" name="矩形: 圆顶角 6">
            <a:extLst>
              <a:ext uri="{FF2B5EF4-FFF2-40B4-BE49-F238E27FC236}">
                <a16:creationId xmlns:a16="http://schemas.microsoft.com/office/drawing/2014/main" id="{ADDC3282-F408-9DCE-D32B-5780E2231FE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文本框 7">
            <a:extLst>
              <a:ext uri="{FF2B5EF4-FFF2-40B4-BE49-F238E27FC236}">
                <a16:creationId xmlns:a16="http://schemas.microsoft.com/office/drawing/2014/main" id="{E11EC782-D482-B5D4-5625-5F72B25CECA8}"/>
              </a:ext>
            </a:extLst>
          </p:cNvPr>
          <p:cNvSpPr txBox="1"/>
          <p:nvPr/>
        </p:nvSpPr>
        <p:spPr>
          <a:xfrm>
            <a:off x="475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群提升</a:t>
            </a:r>
          </a:p>
        </p:txBody>
      </p:sp>
      <p:sp>
        <p:nvSpPr>
          <p:cNvPr id="9" name="文本框 8">
            <a:extLst>
              <a:ext uri="{FF2B5EF4-FFF2-40B4-BE49-F238E27FC236}">
                <a16:creationId xmlns:a16="http://schemas.microsoft.com/office/drawing/2014/main" id="{599B5CED-EB31-C8B1-C68B-B7137617D816}"/>
              </a:ext>
            </a:extLst>
          </p:cNvPr>
          <p:cNvSpPr txBox="1"/>
          <p:nvPr/>
        </p:nvSpPr>
        <p:spPr>
          <a:solidFill>
            <a:srgbClr val="930000"/>
          </a:solidFill>
          <a:xfrm>
            <a:off x="460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02</a:t>
            </a:r>
          </a:p>
        </p:txBody>
      </p:sp>
      <p:sp>
        <p:nvSpPr>
          <p:cNvPr id="10" name="矩形: 圆角 9">
            <a:extLst>
              <a:ext uri="{FF2B5EF4-FFF2-40B4-BE49-F238E27FC236}">
                <a16:creationId xmlns:a16="http://schemas.microsoft.com/office/drawing/2014/main" id="{0AC1644F-ADA4-3F2D-4208-504628EB8D50}"/>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1" name="矩形: 圆顶角 10">
            <a:extLst>
              <a:ext uri="{FF2B5EF4-FFF2-40B4-BE49-F238E27FC236}">
                <a16:creationId xmlns:a16="http://schemas.microsoft.com/office/drawing/2014/main" id="{856CC433-1E03-07CF-BFE3-0EC6D951BEDC}"/>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2" name="文本框 11">
            <a:extLst>
              <a:ext uri="{FF2B5EF4-FFF2-40B4-BE49-F238E27FC236}">
                <a16:creationId xmlns:a16="http://schemas.microsoft.com/office/drawing/2014/main" id="{32ABA28A-989B-DA5B-DFE0-DCE456249F42}"/>
              </a:ext>
            </a:extLst>
          </p:cNvPr>
          <p:cNvSpPr txBox="1"/>
          <p:nvPr/>
        </p:nvSpPr>
        <p:spPr>
          <a:xfrm>
            <a:off x="840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等变卷积</a:t>
            </a:r>
          </a:p>
        </p:txBody>
      </p:sp>
      <p:sp>
        <p:nvSpPr>
          <p:cNvPr id="13" name="文本框 12">
            <a:extLst>
              <a:ext uri="{FF2B5EF4-FFF2-40B4-BE49-F238E27FC236}">
                <a16:creationId xmlns:a16="http://schemas.microsoft.com/office/drawing/2014/main" id="{4806CA36-BE79-BE7A-ED1D-A49CC77217EC}"/>
              </a:ext>
            </a:extLst>
          </p:cNvPr>
          <p:cNvSpPr txBox="1"/>
          <p:nvPr/>
        </p:nvSpPr>
        <p:spPr>
          <a:solidFill>
            <a:srgbClr val="FFFFFF"/>
          </a:solidFill>
          <a:xfrm>
            <a:off x="840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在群空间中滑动滤波器；输入发生旋转/平移时，特征图按照同样的群作用变化，从而保持预测一致。</a:t>
            </a:r>
          </a:p>
        </p:txBody>
      </p:sp>
      <p:sp>
        <p:nvSpPr>
          <p:cNvPr id="14" name="文本框 13">
            <a:extLst>
              <a:ext uri="{FF2B5EF4-FFF2-40B4-BE49-F238E27FC236}">
                <a16:creationId xmlns:a16="http://schemas.microsoft.com/office/drawing/2014/main" id="{EB9CF276-D3DC-92F3-960D-FBEF600AF20C}"/>
              </a:ext>
            </a:extLst>
          </p:cNvPr>
          <p:cNvSpPr txBox="1"/>
          <p:nvPr/>
        </p:nvSpPr>
        <p:spPr>
          <a:solidFill>
            <a:srgbClr val="FFFFFF"/>
          </a:solidFill>
          <a:xfrm>
            <a:off x="475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将特征从欧式空间提升到 SE(3) 群空间，使每个位置同时关联不同旋转姿态下的响应。</a:t>
            </a:r>
          </a:p>
        </p:txBody>
      </p:sp>
      <p:sp>
        <p:nvSpPr>
          <p:cNvPr id="15" name="文本框 14">
            <a:extLst>
              <a:ext uri="{FF2B5EF4-FFF2-40B4-BE49-F238E27FC236}">
                <a16:creationId xmlns:a16="http://schemas.microsoft.com/office/drawing/2014/main" id="{70F0818A-D039-F075-7CE3-F97FFCE9AA85}"/>
              </a:ext>
            </a:extLst>
          </p:cNvPr>
          <p:cNvSpPr txBox="1"/>
          <p:nvPr/>
        </p:nvSpPr>
        <p:spPr>
          <a:solidFill>
            <a:srgbClr val="930000"/>
          </a:solidFill>
          <a:xfrm>
            <a:off x="825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03</a:t>
            </a:r>
          </a:p>
        </p:txBody>
      </p:sp>
      <p:sp>
        <p:nvSpPr>
          <p:cNvPr id="17" name="文本框 16">
            <a:extLst>
              <a:ext uri="{FF2B5EF4-FFF2-40B4-BE49-F238E27FC236}">
                <a16:creationId xmlns:a16="http://schemas.microsoft.com/office/drawing/2014/main" id="{1FE23E56-DDF8-79ED-065E-238C336D948D}"/>
              </a:ext>
            </a:extLst>
          </p:cNvPr>
          <p:cNvSpPr txBox="1"/>
          <p:nvPr/>
        </p:nvSpPr>
        <p:spPr>
          <a:solidFill>
            <a:srgbClr val="FFFFFF"/>
          </a:solidFill>
          <a:xfrm>
            <a:off x="110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把医学图像从普通体素网格看作空间信号，每个体素的特征不仅包含强度，也隐含局部方向和邻域结构。</a:t>
            </a:r>
          </a:p>
        </p:txBody>
      </p:sp>
    </p:spTree>
    <p:extLst>
      <p:ext uri="{BB962C8B-B14F-4D97-AF65-F5344CB8AC3E}">
        <p14:creationId xmlns:p14="http://schemas.microsoft.com/office/powerpoint/2010/main" val="118293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A8B15-18EF-1810-DE77-D14381B59CD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232BFFEA-F528-D52A-DA9B-FAB98CEBE1EA}"/>
              </a:ext>
            </a:extLst>
          </p:cNvPr>
          <p:cNvSpPr>
            <a:spLocks noGrp="1"/>
          </p:cNvSpPr>
          <p:nvPr>
            <p:ph type="body" sz="quarter" idx="13"/>
          </p:nvPr>
        </p:nvSpPr>
        <p:spPr>
          <a:xfrm>
            <a:off x="850000" y="330000"/>
            <a:ext cx="7200000" cy="520000"/>
          </a:xfrm>
        </p:spPr>
        <p:txBody>
          <a:bodyPr>
            <a:normAutofit lnSpcReduction="10000"/>
          </a:bodyPr>
          <a:lstStyle/>
          <a:p>
            <a:r>
              <a:rPr lang="en-US" altLang="zh-CN" dirty="0" sz="3000" b="1">
                <a:solidFill>
                  <a:srgbClr val="1F2329"/>
                </a:solidFill>
              </a:rPr>
              <a:t>SE(3) 群卷积如何服务分割输出？</a:t>
            </a:r>
          </a:p>
        </p:txBody>
      </p:sp>
      <p:cxnSp>
        <p:nvCxnSpPr>
          <p:cNvPr id="2" name="Connector 7">
            <a:extLst>
              <a:ext uri="{FF2B5EF4-FFF2-40B4-BE49-F238E27FC236}">
                <a16:creationId xmlns:a16="http://schemas.microsoft.com/office/drawing/2014/main" id="{442DBF69-FD67-9C06-B9B0-5D167A2C87F8}"/>
              </a:ext>
            </a:extLst>
          </p:cNvPr>
          <p:cNvCxnSpPr/>
          <p:nvPr/>
        </p:nvCxnSpPr>
        <p:spPr>
          <a:xfrm rot="4910346">
            <a:off x="3435140" y="38724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 name="AutoShape 8">
            <a:extLst>
              <a:ext uri="{FF2B5EF4-FFF2-40B4-BE49-F238E27FC236}">
                <a16:creationId xmlns:a16="http://schemas.microsoft.com/office/drawing/2014/main" id="{03C502F3-4561-EBDA-A163-E7B0005438CB}"/>
              </a:ext>
            </a:extLst>
          </p:cNvPr>
          <p:cNvSpPr/>
          <p:nvPr/>
        </p:nvSpPr>
        <p:spPr>
          <a:xfrm rot="5400000">
            <a:off x="3340100" y="20497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4" name="Connector 9">
            <a:extLst>
              <a:ext uri="{FF2B5EF4-FFF2-40B4-BE49-F238E27FC236}">
                <a16:creationId xmlns:a16="http://schemas.microsoft.com/office/drawing/2014/main" id="{30D43BFD-0128-6478-6794-6855FC5F92BE}"/>
              </a:ext>
            </a:extLst>
          </p:cNvPr>
          <p:cNvCxnSpPr/>
          <p:nvPr/>
        </p:nvCxnSpPr>
        <p:spPr>
          <a:xfrm rot="4910346">
            <a:off x="3435140" y="235607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10">
            <a:extLst>
              <a:ext uri="{FF2B5EF4-FFF2-40B4-BE49-F238E27FC236}">
                <a16:creationId xmlns:a16="http://schemas.microsoft.com/office/drawing/2014/main" id="{29FA8DF8-2AA6-94EF-9508-21515CA77D7A}"/>
              </a:ext>
            </a:extLst>
          </p:cNvPr>
          <p:cNvSpPr/>
          <p:nvPr/>
        </p:nvSpPr>
        <p:spPr>
          <a:xfrm rot="5400000">
            <a:off x="3340100" y="52070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6" name="AutoShape 11">
            <a:extLst>
              <a:ext uri="{FF2B5EF4-FFF2-40B4-BE49-F238E27FC236}">
                <a16:creationId xmlns:a16="http://schemas.microsoft.com/office/drawing/2014/main" id="{A15DFE16-55C7-6480-99D3-A13A189792C0}"/>
              </a:ext>
            </a:extLst>
          </p:cNvPr>
          <p:cNvSpPr/>
          <p:nvPr/>
        </p:nvSpPr>
        <p:spPr>
          <a:solidFill>
            <a:srgbClr val="930000"/>
          </a:solidFill>
          <a:xfrm>
            <a:off x="860000" y="1180000"/>
            <a:ext cx="4200000" cy="420000"/>
          </a:xfrm>
          <a:prstGeom prst="roundRect">
            <a:avLst>
              <a:gd name="adj" fmla="val 51515"/>
            </a:avLst>
          </a:prstGeom>
          <a:ln w="0">
            <a:solidFill>
              <a:srgbClr val="930000"/>
            </a:solidFill>
          </a:ln>
        </p:spPr>
        <p:txBody>
          <a:bodyPr vert="horz" wrap="square" lIns="88900" tIns="50800" rIns="88900" bIns="50800" rtlCol="0" anchor="ctr" anchorCtr="0"/>
          <a:lstStyle/>
          <a:p>
            <a:pPr indent="0" algn="ctr">
              <a:lnSpc>
                <a:spcPct val="116666"/>
              </a:lnSpc>
              <a:defRPr/>
            </a:pPr>
            <a:r>
              <a:rPr lang="en-US" sz="2100" b="1" i="0" u="none" strike="noStrike" dirty="0">
                <a:ea typeface="Noto Sans SC"/>
                <a:cs typeface="Noto Sans SC"/>
                <a:sym typeface="Noto Sans SC"/>
                <a:solidFill>
                  <a:srgbClr val="FFFFFF"/>
                </a:solidFill>
              </a:rPr>
              <a:t>SE(3) 分割增强逻辑</a:t>
            </a:r>
          </a:p>
        </p:txBody>
      </p:sp>
      <p:sp>
        <p:nvSpPr>
          <p:cNvPr id="7" name="AutoShape 12">
            <a:extLst>
              <a:ext uri="{FF2B5EF4-FFF2-40B4-BE49-F238E27FC236}">
                <a16:creationId xmlns:a16="http://schemas.microsoft.com/office/drawing/2014/main" id="{502DE4F2-B97A-77B2-D6D8-D94117125896}"/>
              </a:ext>
            </a:extLst>
          </p:cNvPr>
          <p:cNvSpPr/>
          <p:nvPr/>
        </p:nvSpPr>
        <p:spPr>
          <a:solidFill>
            <a:srgbClr val="F7F1F1"/>
          </a:solidFill>
          <a:xfrm>
            <a:off x="900000" y="186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1: 群提升</a:t>
            </a:r>
          </a:p>
        </p:txBody>
      </p:sp>
      <p:sp>
        <p:nvSpPr>
          <p:cNvPr id="8" name="AutoShape 13">
            <a:extLst>
              <a:ext uri="{FF2B5EF4-FFF2-40B4-BE49-F238E27FC236}">
                <a16:creationId xmlns:a16="http://schemas.microsoft.com/office/drawing/2014/main" id="{4B0D22EB-02C4-E1FA-D296-491A7F0C7ABE}"/>
              </a:ext>
            </a:extLst>
          </p:cNvPr>
          <p:cNvSpPr/>
          <p:nvPr/>
        </p:nvSpPr>
        <p:spPr>
          <a:xfrm>
            <a:off x="1900000" y="5450000"/>
            <a:ext cx="3600000" cy="340000"/>
          </a:xfrm>
          <a:prstGeom prst="roundRect">
            <a:avLst>
              <a:gd name="adj" fmla="val 10714"/>
            </a:avLst>
          </a:prstGeom>
          <a:solidFill>
            <a:srgbClr val="930000">
              <a:alpha val="85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450" b="0" i="0" u="none" strike="noStrike" dirty="0">
                <a:ea typeface="Noto Sans SC"/>
                <a:cs typeface="Noto Sans SC"/>
                <a:sym typeface="Noto Sans SC"/>
                <a:solidFill>
                  <a:srgbClr val="555555"/>
                </a:solidFill>
              </a:rPr>
              <a:t>流程衔接与数据流转</a:t>
            </a:r>
          </a:p>
        </p:txBody>
      </p:sp>
      <p:sp>
        <p:nvSpPr>
          <p:cNvPr id="9" name="AutoShape 14">
            <a:extLst>
              <a:ext uri="{FF2B5EF4-FFF2-40B4-BE49-F238E27FC236}">
                <a16:creationId xmlns:a16="http://schemas.microsoft.com/office/drawing/2014/main" id="{ABFDA861-C399-12B8-841F-EF6795FF51D4}"/>
              </a:ext>
            </a:extLst>
          </p:cNvPr>
          <p:cNvSpPr/>
          <p:nvPr/>
        </p:nvSpPr>
        <p:spPr>
          <a:solidFill>
            <a:srgbClr val="F7F1F1"/>
          </a:solidFill>
          <a:xfrm>
            <a:off x="900000" y="301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2: 群卷积编码</a:t>
            </a:r>
          </a:p>
        </p:txBody>
      </p:sp>
      <p:sp>
        <p:nvSpPr>
          <p:cNvPr id="10" name="AutoShape 15">
            <a:extLst>
              <a:ext uri="{FF2B5EF4-FFF2-40B4-BE49-F238E27FC236}">
                <a16:creationId xmlns:a16="http://schemas.microsoft.com/office/drawing/2014/main" id="{077AA80A-DA05-B4E0-4C48-3E57213630D7}"/>
              </a:ext>
            </a:extLst>
          </p:cNvPr>
          <p:cNvSpPr/>
          <p:nvPr/>
        </p:nvSpPr>
        <p:spPr>
          <a:solidFill>
            <a:srgbClr val="F7F1F1"/>
          </a:solidFill>
          <a:xfrm>
            <a:off x="900000" y="416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3: 输出 mask</a:t>
            </a:r>
          </a:p>
        </p:txBody>
      </p:sp>
      <p:sp>
        <p:nvSpPr>
          <p:cNvPr id="11" name="AutoShape 16">
            <a:extLst>
              <a:ext uri="{FF2B5EF4-FFF2-40B4-BE49-F238E27FC236}">
                <a16:creationId xmlns:a16="http://schemas.microsoft.com/office/drawing/2014/main" id="{9A5E1447-E5A6-C545-1EE6-88A860B5B1C6}"/>
              </a:ext>
            </a:extLst>
          </p:cNvPr>
          <p:cNvSpPr/>
          <p:nvPr/>
        </p:nvSpPr>
        <p:spPr>
          <a:xfrm rot="-5400000" flipV="1">
            <a:off x="3340100" y="13258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7">
            <a:extLst>
              <a:ext uri="{FF2B5EF4-FFF2-40B4-BE49-F238E27FC236}">
                <a16:creationId xmlns:a16="http://schemas.microsoft.com/office/drawing/2014/main" id="{43A5E3A7-F2C4-4538-292F-EFD769312148}"/>
              </a:ext>
            </a:extLst>
          </p:cNvPr>
          <p:cNvSpPr/>
          <p:nvPr/>
        </p:nvSpPr>
        <p:spPr>
          <a:xfrm>
            <a:off x="3000000" y="186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输入：3D 体数据</a:t>
            </a:r>
          </a:p>
        </p:txBody>
      </p:sp>
      <p:sp>
        <p:nvSpPr>
          <p:cNvPr id="13" name="AutoShape 18">
            <a:extLst>
              <a:ext uri="{FF2B5EF4-FFF2-40B4-BE49-F238E27FC236}">
                <a16:creationId xmlns:a16="http://schemas.microsoft.com/office/drawing/2014/main" id="{ACED134B-9EF2-8CF3-7BBB-9EF540BB5195}"/>
              </a:ext>
            </a:extLst>
          </p:cNvPr>
          <p:cNvSpPr/>
          <p:nvPr/>
        </p:nvSpPr>
        <p:spPr>
          <a:xfrm>
            <a:off x="3000000" y="301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操作：群空间特征</a:t>
            </a:r>
          </a:p>
        </p:txBody>
      </p:sp>
      <p:sp>
        <p:nvSpPr>
          <p:cNvPr id="14" name="AutoShape 19">
            <a:extLst>
              <a:ext uri="{FF2B5EF4-FFF2-40B4-BE49-F238E27FC236}">
                <a16:creationId xmlns:a16="http://schemas.microsoft.com/office/drawing/2014/main" id="{D9A8B90B-F08C-F042-07C9-D4AF98713224}"/>
              </a:ext>
            </a:extLst>
          </p:cNvPr>
          <p:cNvSpPr/>
          <p:nvPr/>
        </p:nvSpPr>
        <p:spPr>
          <a:xfrm>
            <a:off x="3000000" y="416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输出：分割概率图</a:t>
            </a:r>
          </a:p>
        </p:txBody>
      </p:sp>
      <p:cxnSp>
        <p:nvCxnSpPr>
          <p:cNvPr id="15" name="Connector 20">
            <a:extLst>
              <a:ext uri="{FF2B5EF4-FFF2-40B4-BE49-F238E27FC236}">
                <a16:creationId xmlns:a16="http://schemas.microsoft.com/office/drawing/2014/main" id="{FC2205F4-3D2A-CEEC-441B-1886846020BC}"/>
              </a:ext>
            </a:extLst>
          </p:cNvPr>
          <p:cNvCxnSpPr/>
          <p:nvPr/>
        </p:nvCxnSpPr>
        <p:spPr>
          <a:xfrm rot="4910346">
            <a:off x="34351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7" name="Connector 21">
            <a:extLst>
              <a:ext uri="{FF2B5EF4-FFF2-40B4-BE49-F238E27FC236}">
                <a16:creationId xmlns:a16="http://schemas.microsoft.com/office/drawing/2014/main" id="{8580CD67-8CA5-E6D6-17CB-B936EC651A74}"/>
              </a:ext>
            </a:extLst>
          </p:cNvPr>
          <p:cNvCxnSpPr>
            <a:cxnSpLocks/>
            <a:endCxn id="19" idx="0"/>
          </p:cNvCxnSpPr>
          <p:nvPr/>
        </p:nvCxnSpPr>
        <p:spPr>
          <a:xfrm flipH="1">
            <a:off x="1771650" y="4323079"/>
            <a:ext cx="6351" cy="177801"/>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8" name="Connector 22">
            <a:extLst>
              <a:ext uri="{FF2B5EF4-FFF2-40B4-BE49-F238E27FC236}">
                <a16:creationId xmlns:a16="http://schemas.microsoft.com/office/drawing/2014/main" id="{59128273-4786-95D0-BD6A-F02279ADFB3D}"/>
              </a:ext>
            </a:extLst>
          </p:cNvPr>
          <p:cNvCxnSpPr/>
          <p:nvPr/>
        </p:nvCxnSpPr>
        <p:spPr>
          <a:xfrm rot="4910346">
            <a:off x="51750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9" name="AutoShape 23">
            <a:extLst>
              <a:ext uri="{FF2B5EF4-FFF2-40B4-BE49-F238E27FC236}">
                <a16:creationId xmlns:a16="http://schemas.microsoft.com/office/drawing/2014/main" id="{07F30285-F542-1C0B-EE88-B1E7A1B5C7CA}"/>
              </a:ext>
            </a:extLst>
          </p:cNvPr>
          <p:cNvSpPr/>
          <p:nvPr/>
        </p:nvSpPr>
        <p:spPr>
          <a:solidFill>
            <a:srgbClr val="FFFFFF"/>
          </a:solidFill>
          <a:xfrm>
            <a:off x="3000000" y="229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将体素特征提升到带有旋转维度的群表示空间。</a:t>
            </a:r>
          </a:p>
        </p:txBody>
      </p:sp>
      <p:sp>
        <p:nvSpPr>
          <p:cNvPr id="20" name="AutoShape 24">
            <a:extLst>
              <a:ext uri="{FF2B5EF4-FFF2-40B4-BE49-F238E27FC236}">
                <a16:creationId xmlns:a16="http://schemas.microsoft.com/office/drawing/2014/main" id="{10809C2D-6F10-B3D9-E19E-5C6CF94E82BB}"/>
              </a:ext>
            </a:extLst>
          </p:cNvPr>
          <p:cNvSpPr/>
          <p:nvPr/>
        </p:nvSpPr>
        <p:spPr>
          <a:solidFill>
            <a:srgbClr val="FFFFFF"/>
          </a:solidFill>
          <a:xfrm>
            <a:off x="3000000" y="344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在 SE(3) 群上进行卷积，编码不同位置与方向的局部响应。</a:t>
            </a:r>
          </a:p>
        </p:txBody>
      </p:sp>
      <p:sp>
        <p:nvSpPr>
          <p:cNvPr id="21" name="AutoShape 25">
            <a:extLst>
              <a:ext uri="{FF2B5EF4-FFF2-40B4-BE49-F238E27FC236}">
                <a16:creationId xmlns:a16="http://schemas.microsoft.com/office/drawing/2014/main" id="{1EEA1F41-1E5D-0294-387C-0948106AD2E8}"/>
              </a:ext>
            </a:extLst>
          </p:cNvPr>
          <p:cNvSpPr/>
          <p:nvPr/>
        </p:nvSpPr>
        <p:spPr>
          <a:solidFill>
            <a:srgbClr val="FFFFFF"/>
          </a:solidFill>
          <a:xfrm>
            <a:off x="3000000" y="459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聚合群特征并解码，得到与输入几何变换一致的分割结果。</a:t>
            </a:r>
          </a:p>
        </p:txBody>
      </p:sp>
      <p:sp>
        <p:nvSpPr>
          <p:cNvPr id="22" name="AutoShape 26">
            <a:extLst>
              <a:ext uri="{FF2B5EF4-FFF2-40B4-BE49-F238E27FC236}">
                <a16:creationId xmlns:a16="http://schemas.microsoft.com/office/drawing/2014/main" id="{656CC8EB-14B6-3014-CA45-0A3A0FC6C27E}"/>
              </a:ext>
            </a:extLst>
          </p:cNvPr>
          <p:cNvSpPr/>
          <p:nvPr/>
        </p:nvSpPr>
        <p:spPr>
          <a:xfrm rot="-5400000" flipV="1">
            <a:off x="3340100" y="37769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23" name="Connector 27">
            <a:extLst>
              <a:ext uri="{FF2B5EF4-FFF2-40B4-BE49-F238E27FC236}">
                <a16:creationId xmlns:a16="http://schemas.microsoft.com/office/drawing/2014/main" id="{9A725536-2F47-C14A-5496-50F26642DF69}"/>
              </a:ext>
            </a:extLst>
          </p:cNvPr>
          <p:cNvCxnSpPr/>
          <p:nvPr/>
        </p:nvCxnSpPr>
        <p:spPr>
          <a:xfrm rot="4910346">
            <a:off x="3435140" y="5421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4" name="AutoShape 28">
            <a:extLst>
              <a:ext uri="{FF2B5EF4-FFF2-40B4-BE49-F238E27FC236}">
                <a16:creationId xmlns:a16="http://schemas.microsoft.com/office/drawing/2014/main" id="{B0AE8037-BFE5-9BB6-FDAF-54D6721F2340}"/>
              </a:ext>
            </a:extLst>
          </p:cNvPr>
          <p:cNvSpPr/>
          <p:nvPr/>
        </p:nvSpPr>
        <p:spPr>
          <a:solidFill>
            <a:srgbClr val="930000"/>
          </a:solidFill>
          <a:xfrm>
            <a:off x="6550000" y="5580000"/>
            <a:ext cx="4550000" cy="420000"/>
          </a:xfrm>
          <a:prstGeom prst="roundRect">
            <a:avLst>
              <a:gd name="adj" fmla="val 7500"/>
            </a:avLst>
          </a:prstGeom>
          <a:ln w="0">
            <a:solidFill>
              <a:srgbClr val="930000"/>
            </a:solidFill>
          </a:ln>
        </p:spPr>
        <p:txBody>
          <a:bodyPr vert="horz" wrap="square" lIns="88900" tIns="76200" rIns="88900" bIns="76200" rtlCol="0" anchor="ctr" anchorCtr="0"/>
          <a:lstStyle/>
          <a:p>
            <a:pPr indent="0" algn="ctr">
              <a:lnSpc>
                <a:spcPct val="100000"/>
              </a:lnSpc>
              <a:defRPr/>
            </a:pPr>
            <a:r>
              <a:rPr lang="en-US" sz="1650" b="1" i="0" u="none" strike="noStrike" dirty="0">
                <a:ea typeface="Noto Sans SC"/>
                <a:cs typeface="Noto Sans SC"/>
                <a:sym typeface="Noto Sans SC"/>
                <a:solidFill>
                  <a:srgbClr val="FFFFFF"/>
                </a:solidFill>
              </a:rPr>
              <a:t>核心价值：让分割 mask 在旋转/平移变化下保持语义一致</a:t>
            </a:r>
          </a:p>
        </p:txBody>
      </p:sp>
      <p:sp>
        <p:nvSpPr>
          <p:cNvPr id="25" name="AutoShape 29">
            <a:extLst>
              <a:ext uri="{FF2B5EF4-FFF2-40B4-BE49-F238E27FC236}">
                <a16:creationId xmlns:a16="http://schemas.microsoft.com/office/drawing/2014/main" id="{5FA5A6A0-92B1-3762-B263-57D168448B08}"/>
              </a:ext>
            </a:extLst>
          </p:cNvPr>
          <p:cNvSpPr/>
          <p:nvPr/>
        </p:nvSpPr>
        <p:spPr>
          <a:solidFill>
            <a:srgbClr val="FAF8F8"/>
          </a:solidFill>
          <a:xfrm>
            <a:off x="6550000" y="1650000"/>
            <a:ext cx="4550000" cy="1320000"/>
          </a:xfrm>
          <a:prstGeom prst="rect">
            <a:avLst/>
          </a:prstGeom>
          <a:ln w="9000">
            <a:solidFill>
              <a:srgbClr val="DCDCDC"/>
            </a:solidFill>
          </a:ln>
        </p:spPr>
        <p:txBody>
          <a:bodyPr vert="horz" wrap="square" lIns="137160" tIns="91440" rIns="137160" bIns="91440" rtlCol="0" anchor="t" anchorCtr="0"/>
          <a:lstStyle/>
          <a:p>
            <a:pPr indent="0" algn="l">
              <a:lnSpc>
                <a:spcPct val="116666"/>
              </a:lnSpc>
              <a:defRPr/>
            </a:pPr>
            <a:r>
              <a:rPr lang="en-US" sz="1400" b="1" i="0" u="none" strike="noStrike" dirty="0">
                <a:ea typeface="Noto Sans SC"/>
                <a:cs typeface="Noto Sans SC"/>
                <a:sym typeface="Noto Sans SC"/>
                <a:solidFill>
                  <a:srgbClr val="333333"/>
                </a:solidFill>
              </a:rPr>
              <a:t>标准 U-Net 流程回顾：</a:t>
            </a:r>
          </a:p>
          <a:p>
            <a:pPr indent="0" algn="l">
              <a:lnSpc>
                <a:spcPct val="116666"/>
              </a:lnSpc>
              <a:defRPr/>
            </a:pPr>
            <a:r>
              <a:rPr lang="en-US" sz="1400" b="1" i="0" u="none" strike="noStrike" dirty="0">
                <a:ea typeface="Noto Sans SC"/>
                <a:cs typeface="Noto Sans SC"/>
                <a:sym typeface="Noto Sans SC"/>
                <a:solidFill>
                  <a:srgbClr val="333333"/>
                </a:solidFill>
              </a:rPr>
              <a:t>输入体数据经过编码器提取多尺度特征，再由解码器恢复空间分辨率，最终输出每个体素的类别概率。这个过程主要利用局部卷积和平移共享权重。</a:t>
            </a:r>
          </a:p>
        </p:txBody>
      </p:sp>
      <p:sp>
        <p:nvSpPr>
          <p:cNvPr id="26" name="AutoShape 30">
            <a:extLst>
              <a:ext uri="{FF2B5EF4-FFF2-40B4-BE49-F238E27FC236}">
                <a16:creationId xmlns:a16="http://schemas.microsoft.com/office/drawing/2014/main" id="{D9357E2E-39B2-CA2F-AF83-7699040959AD}"/>
              </a:ext>
            </a:extLst>
          </p:cNvPr>
          <p:cNvSpPr/>
          <p:nvPr/>
        </p:nvSpPr>
        <p:spPr>
          <a:solidFill>
            <a:srgbClr val="FAF8F8"/>
          </a:solidFill>
          <a:xfrm>
            <a:off x="6550000" y="1200000"/>
            <a:ext cx="1200000" cy="360000"/>
          </a:xfrm>
          <a:prstGeom prst="rect">
            <a:avLst/>
          </a:prstGeom>
          <a:ln w="9000">
            <a:solidFill>
              <a:srgbClr val="DCDCDC"/>
            </a:solidFill>
          </a:ln>
        </p:spPr>
        <p:txBody>
          <a:bodyPr vert="horz" wrap="none" lIns="137160" tIns="91440" rIns="137160" bIns="91440" rtlCol="0" anchor="t" anchorCtr="0"/>
          <a:lstStyle/>
          <a:p>
            <a:pPr indent="0" algn="l">
              <a:lnSpc>
                <a:spcPct val="100000"/>
              </a:lnSpc>
              <a:defRPr/>
            </a:pPr>
            <a:r>
              <a:rPr lang="en-US" sz="1800" b="1" i="0" u="none" strike="noStrike">
                <a:ea typeface="Noto Sans SC"/>
                <a:cs typeface="Noto Sans SC"/>
                <a:sym typeface="Noto Sans SC"/>
                <a:solidFill>
                  <a:srgbClr val="333333"/>
                </a:solidFill>
              </a:rPr>
              <a:t>背景回顾</a:t>
            </a:r>
          </a:p>
        </p:txBody>
      </p:sp>
      <p:sp>
        <p:nvSpPr>
          <p:cNvPr id="27" name="AutoShape 31">
            <a:extLst>
              <a:ext uri="{FF2B5EF4-FFF2-40B4-BE49-F238E27FC236}">
                <a16:creationId xmlns:a16="http://schemas.microsoft.com/office/drawing/2014/main" id="{07A41E60-CCFF-3D53-25E6-90935504E383}"/>
              </a:ext>
            </a:extLst>
          </p:cNvPr>
          <p:cNvSpPr/>
          <p:nvPr/>
        </p:nvSpPr>
        <p:spPr>
          <a:solidFill>
            <a:srgbClr val="FAF8F8"/>
          </a:solidFill>
          <a:xfrm>
            <a:off x="6550000" y="3830000"/>
            <a:ext cx="4550000" cy="1400000"/>
          </a:xfrm>
          <a:prstGeom prst="rect">
            <a:avLst/>
          </a:prstGeom>
          <a:ln w="9000">
            <a:solidFill>
              <a:srgbClr val="DCDCDC"/>
            </a:solidFill>
          </a:ln>
        </p:spPr>
        <p:txBody>
          <a:bodyPr vert="horz" wrap="square" lIns="137160" tIns="91440" rIns="137160" bIns="91440" rtlCol="0" anchor="t" anchorCtr="0"/>
          <a:lstStyle/>
          <a:p>
            <a:pPr indent="0" algn="l">
              <a:lnSpc>
                <a:spcPct val="116666"/>
              </a:lnSpc>
              <a:defRPr/>
            </a:pPr>
            <a:r>
              <a:rPr lang="en-US" sz="1400" b="1" i="0" u="none" strike="noStrike" dirty="0">
                <a:ea typeface="Noto Sans SC"/>
                <a:cs typeface="Noto Sans SC"/>
                <a:sym typeface="Noto Sans SC"/>
                <a:solidFill>
                  <a:srgbClr val="333333"/>
                </a:solidFill>
              </a:rPr>
              <a:t>为何引入 SE(3)？</a:t>
            </a:r>
          </a:p>
          <a:p>
            <a:pPr indent="0" algn="l">
              <a:lnSpc>
                <a:spcPct val="116666"/>
              </a:lnSpc>
              <a:defRPr/>
            </a:pPr>
            <a:r>
              <a:rPr lang="en-US" sz="1400" b="1" i="0" u="none" strike="noStrike" dirty="0">
                <a:ea typeface="Noto Sans SC"/>
                <a:cs typeface="Noto Sans SC"/>
                <a:sym typeface="Noto Sans SC"/>
                <a:solidFill>
                  <a:srgbClr val="333333"/>
                </a:solidFill>
              </a:rPr>
              <a:t>医学图像的目标结构常受扫描姿态、解剖方向和局部旋转影响。SE(3) 群卷积让网络在特征层显式处理旋转和平移，从而减少输出 mask 对姿态变化的敏感性。</a:t>
            </a:r>
          </a:p>
        </p:txBody>
      </p:sp>
      <p:sp>
        <p:nvSpPr>
          <p:cNvPr id="28" name="AutoShape 32">
            <a:extLst>
              <a:ext uri="{FF2B5EF4-FFF2-40B4-BE49-F238E27FC236}">
                <a16:creationId xmlns:a16="http://schemas.microsoft.com/office/drawing/2014/main" id="{BC12A8F6-263D-9024-93BA-D540CBA95648}"/>
              </a:ext>
            </a:extLst>
          </p:cNvPr>
          <p:cNvSpPr/>
          <p:nvPr/>
        </p:nvSpPr>
        <p:spPr>
          <a:solidFill>
            <a:srgbClr val="FAF8F8"/>
          </a:solidFill>
          <a:xfrm>
            <a:off x="6550000" y="3380000"/>
            <a:ext cx="1200000" cy="360000"/>
          </a:xfrm>
          <a:prstGeom prst="rect">
            <a:avLst/>
          </a:prstGeom>
          <a:ln w="9000">
            <a:solidFill>
              <a:srgbClr val="DCDCDC"/>
            </a:solidFill>
          </a:ln>
        </p:spPr>
        <p:txBody>
          <a:bodyPr vert="horz" wrap="none" lIns="137160" tIns="91440" rIns="137160" bIns="91440" rtlCol="0" anchor="t" anchorCtr="0"/>
          <a:lstStyle/>
          <a:p>
            <a:pPr indent="0" algn="l">
              <a:lnSpc>
                <a:spcPct val="100000"/>
              </a:lnSpc>
              <a:defRPr/>
            </a:pPr>
            <a:r>
              <a:rPr lang="en-US" sz="1800" b="1" i="0" u="none" strike="noStrike">
                <a:ea typeface="Noto Sans SC"/>
                <a:cs typeface="Noto Sans SC"/>
                <a:sym typeface="Noto Sans SC"/>
                <a:solidFill>
                  <a:srgbClr val="333333"/>
                </a:solidFill>
              </a:rPr>
              <a:t>设计动机</a:t>
            </a:r>
          </a:p>
        </p:txBody>
      </p:sp>
    </p:spTree>
    <p:extLst>
      <p:ext uri="{BB962C8B-B14F-4D97-AF65-F5344CB8AC3E}">
        <p14:creationId xmlns:p14="http://schemas.microsoft.com/office/powerpoint/2010/main" val="3031187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642A-7921-294B-4538-0D345765B2F1}"/>
            </a:ext>
          </a:extLst>
        </p:cNvPr>
        <p:cNvGrpSpPr/>
        <p:nvPr/>
      </p:nvGrpSpPr>
      <p:grpSpPr>
        <a:xfrm>
          <a:off x="0" y="0"/>
          <a:ext cx="0" cy="0"/>
          <a:chOff x="0" y="0"/>
          <a:chExt cx="0" cy="0"/>
        </a:xfrm>
      </p:grpSpPr>
      <p:sp>
        <p:nvSpPr>
          <p:cNvPr id="9009" name="restyle-accent">
            <a:extLst>
              <a:ext uri="{FF2B5EF4-FFF2-40B4-BE49-F238E27FC236}">
                <a16:creationId xmlns:a16="http://schemas.microsoft.com/office/drawing/2014/main" id="{561296E4-5DC0-B393-6776-987484554FDF}"/>
              </a:ext>
            </a:extLst>
          </p:cNvPr>
          <p:cNvSpPr/>
          <p:nvPr/>
        </p:nvSpPr>
        <p:spPr>
          <a:solidFill>
            <a:srgbClr val="930000"/>
          </a:solidFill>
          <a:xfrm>
            <a:off x="940000" y="1160000"/>
            <a:ext cx="9800000" cy="120000"/>
          </a:xfrm>
          <a:prstGeom prst="rect">
            <a:avLst/>
          </a:prstGeom>
          <a:ln w="0">
            <a:solidFill>
              <a:srgbClr val="930000"/>
            </a:solidFill>
          </a:ln>
        </p:spPr>
        <p:txBody>
          <a:bodyPr vert="horz" wrap="square" lIns="0" tIns="0" rIns="0" bIns="0" rtlCol="0" anchor="ctr" anchorCtr="0"/>
          <a:lstStyle/>
        </p:txBody>
      </p:sp>
      <p:sp>
        <p:nvSpPr>
          <p:cNvPr id="16" name="文本占位符 15">
            <a:extLst>
              <a:ext uri="{FF2B5EF4-FFF2-40B4-BE49-F238E27FC236}">
                <a16:creationId xmlns:a16="http://schemas.microsoft.com/office/drawing/2014/main" id="{75080444-0E75-791E-1069-0A6EA23FA098}"/>
              </a:ext>
            </a:extLst>
          </p:cNvPr>
          <p:cNvSpPr>
            <a:spLocks noGrp="1"/>
          </p:cNvSpPr>
          <p:nvPr>
            <p:ph type="body" sz="quarter" idx="13"/>
          </p:nvPr>
        </p:nvSpPr>
        <p:spPr>
          <a:xfrm>
            <a:off x="850000" y="330000"/>
            <a:ext cx="7600000" cy="520000"/>
          </a:xfrm>
        </p:spPr>
        <p:txBody>
          <a:bodyPr>
            <a:normAutofit lnSpcReduction="10000"/>
          </a:bodyPr>
          <a:lstStyle/>
          <a:p>
            <a:r>
              <a:rPr lang="en-US" altLang="zh-CN" dirty="0" sz="3000" b="1">
                <a:solidFill>
                  <a:srgbClr val="1F2329"/>
                </a:solidFill>
              </a:rPr>
              <a:t>案例二：群等变 U-Net 在医学图像分割中的应用</a:t>
            </a:r>
          </a:p>
        </p:txBody>
      </p:sp>
      <p:sp>
        <p:nvSpPr>
          <p:cNvPr id="2" name="AutoShape 6">
            <a:extLst>
              <a:ext uri="{FF2B5EF4-FFF2-40B4-BE49-F238E27FC236}">
                <a16:creationId xmlns:a16="http://schemas.microsoft.com/office/drawing/2014/main" id="{5B82395B-D9D8-897D-60A9-DF1B8CFAF805}"/>
              </a:ext>
            </a:extLst>
          </p:cNvPr>
          <p:cNvSpPr/>
          <p:nvPr/>
        </p:nvSpPr>
        <p:spPr>
          <a:xfrm>
            <a:off x="642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3" name="AutoShape 7">
            <a:extLst>
              <a:ext uri="{FF2B5EF4-FFF2-40B4-BE49-F238E27FC236}">
                <a16:creationId xmlns:a16="http://schemas.microsoft.com/office/drawing/2014/main" id="{DDCD9B3D-0E79-62B6-6E30-2C1E2F5D4D35}"/>
              </a:ext>
            </a:extLst>
          </p:cNvPr>
          <p:cNvSpPr/>
          <p:nvPr/>
        </p:nvSpPr>
        <p:spPr>
          <a:xfrm>
            <a:off x="642434" y="1642322"/>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8">
            <a:extLst>
              <a:ext uri="{FF2B5EF4-FFF2-40B4-BE49-F238E27FC236}">
                <a16:creationId xmlns:a16="http://schemas.microsoft.com/office/drawing/2014/main" id="{561296E4-5DC0-B393-6776-987484554FDF}"/>
              </a:ext>
            </a:extLst>
          </p:cNvPr>
          <p:cNvSpPr/>
          <p:nvPr/>
        </p:nvSpPr>
        <p:spPr>
          <a:solidFill>
            <a:srgbClr val="FFFFFF"/>
          </a:solidFill>
          <a:xfrm>
            <a:off x="105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1900" b="1" i="0" u="none" strike="noStrike" dirty="0">
                <a:ea typeface="Noto Sans SC"/>
                <a:cs typeface="Noto Sans SC"/>
                <a:sym typeface="Noto Sans SC"/>
                <a:solidFill>
                  <a:srgbClr val="333333"/>
                </a:solidFill>
              </a:rPr>
              <a:t>从 CNN 到 GER-UNet</a:t>
            </a:r>
          </a:p>
          <a:p>
            <a:pPr indent="0" algn="l">
              <a:lnSpc>
                <a:spcPct val="108333"/>
              </a:lnSpc>
              <a:defRPr/>
            </a:pPr>
            <a:r>
              <a:rPr lang="zh-CN" altLang="en-US" sz="1900" b="1" i="0" u="none" strike="noStrike" dirty="0">
                <a:ea typeface="Noto Sans SC"/>
                <a:cs typeface="Noto Sans SC"/>
                <a:sym typeface="Noto Sans SC"/>
                <a:solidFill>
                  <a:srgbClr val="333333"/>
                </a:solidFill>
              </a:rPr>
              <a:t>在普通 U-Net 基础上引入群等变卷积，使网络不仅利用平移共享，还利用旋转、反射等医学图像中常见的对称性。</a:t>
            </a:r>
          </a:p>
        </p:txBody>
      </p:sp>
      <p:sp>
        <p:nvSpPr>
          <p:cNvPr id="5" name="AutoShape 9">
            <a:extLst>
              <a:ext uri="{FF2B5EF4-FFF2-40B4-BE49-F238E27FC236}">
                <a16:creationId xmlns:a16="http://schemas.microsoft.com/office/drawing/2014/main" id="{85EEA2D1-54DB-6AA9-7EA6-C316981DE20D}"/>
              </a:ext>
            </a:extLst>
          </p:cNvPr>
          <p:cNvSpPr/>
          <p:nvPr/>
        </p:nvSpPr>
        <p:spPr>
          <a:xfrm>
            <a:off x="6230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6" name="AutoShape 10">
            <a:extLst>
              <a:ext uri="{FF2B5EF4-FFF2-40B4-BE49-F238E27FC236}">
                <a16:creationId xmlns:a16="http://schemas.microsoft.com/office/drawing/2014/main" id="{7A1298EC-438C-4DB4-B4C8-C54F19EE53F1}"/>
              </a:ext>
            </a:extLst>
          </p:cNvPr>
          <p:cNvSpPr/>
          <p:nvPr/>
        </p:nvSpPr>
        <p:spPr>
          <a:xfrm>
            <a:off x="6230434" y="1642322"/>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1">
            <a:extLst>
              <a:ext uri="{FF2B5EF4-FFF2-40B4-BE49-F238E27FC236}">
                <a16:creationId xmlns:a16="http://schemas.microsoft.com/office/drawing/2014/main" id="{09BFD6A7-5464-D1EF-6B1F-15D3A5D3B8C2}"/>
              </a:ext>
            </a:extLst>
          </p:cNvPr>
          <p:cNvSpPr/>
          <p:nvPr/>
        </p:nvSpPr>
        <p:spPr>
          <a:solidFill>
            <a:srgbClr val="FFFFFF"/>
          </a:solidFill>
          <a:xfrm>
            <a:off x="463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1900" b="1" i="0" u="none" strike="noStrike" dirty="0">
                <a:ea typeface="Noto Sans SC"/>
                <a:cs typeface="Noto Sans SC"/>
                <a:sym typeface="Noto Sans SC"/>
                <a:solidFill>
                  <a:srgbClr val="333333"/>
                </a:solidFill>
              </a:rPr>
              <a:t>医学图像的对称性</a:t>
            </a:r>
          </a:p>
          <a:p>
            <a:pPr indent="0" algn="l">
              <a:lnSpc>
                <a:spcPct val="108333"/>
              </a:lnSpc>
              <a:defRPr/>
            </a:pPr>
            <a:r>
              <a:rPr lang="zh-CN" altLang="en-US" sz="1900" b="1" i="0" u="none" strike="noStrike" dirty="0">
                <a:ea typeface="Noto Sans SC"/>
                <a:cs typeface="Noto Sans SC"/>
                <a:sym typeface="Noto Sans SC"/>
                <a:solidFill>
                  <a:srgbClr val="333333"/>
                </a:solidFill>
              </a:rPr>
              <a:t>器官和病灶可能出现在不同朝向或镜像关系中。若模型能识别这些内在对称性，就能减少无效参数学习并提升鲁棒性。</a:t>
            </a:r>
          </a:p>
        </p:txBody>
      </p:sp>
      <p:sp>
        <p:nvSpPr>
          <p:cNvPr id="8" name="AutoShape 12">
            <a:extLst>
              <a:ext uri="{FF2B5EF4-FFF2-40B4-BE49-F238E27FC236}">
                <a16:creationId xmlns:a16="http://schemas.microsoft.com/office/drawing/2014/main" id="{7F9F5F58-E586-B504-F93A-326ECB8B6C29}"/>
              </a:ext>
            </a:extLst>
          </p:cNvPr>
          <p:cNvSpPr/>
          <p:nvPr/>
        </p:nvSpPr>
        <p:spPr>
          <a:xfrm>
            <a:off x="649868" y="4182322"/>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9" name="Picture 13">
            <a:extLst>
              <a:ext uri="{FF2B5EF4-FFF2-40B4-BE49-F238E27FC236}">
                <a16:creationId xmlns:a16="http://schemas.microsoft.com/office/drawing/2014/main" id="{98D94939-BF93-6625-8483-D6BD63BFF0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6434" y="4499822"/>
            <a:ext cx="762000" cy="762000"/>
          </a:xfrm>
          <a:prstGeom prst="rect">
            <a:avLst/>
          </a:prstGeom>
        </p:spPr>
      </p:pic>
      <p:sp>
        <p:nvSpPr>
          <p:cNvPr id="10" name="AutoShape 14">
            <a:extLst>
              <a:ext uri="{FF2B5EF4-FFF2-40B4-BE49-F238E27FC236}">
                <a16:creationId xmlns:a16="http://schemas.microsoft.com/office/drawing/2014/main" id="{A10A7B60-89C4-500A-C8C2-A576BD99A1FB}"/>
              </a:ext>
            </a:extLst>
          </p:cNvPr>
          <p:cNvSpPr/>
          <p:nvPr/>
        </p:nvSpPr>
        <p:spPr>
          <a:solidFill>
            <a:srgbClr val="FFFFFF"/>
          </a:solidFill>
          <a:xfrm>
            <a:off x="821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2000" b="1" i="0" u="none" strike="noStrike" dirty="0">
                <a:ea typeface="Noto Sans SC"/>
                <a:cs typeface="Noto Sans SC"/>
                <a:sym typeface="Noto Sans SC"/>
                <a:solidFill>
                  <a:srgbClr val="333333"/>
                </a:solidFill>
              </a:rPr>
              <a:t>核心科学问题</a:t>
            </a:r>
          </a:p>
          <a:p>
            <a:pPr indent="0" algn="l">
              <a:lnSpc>
                <a:spcPct val="108333"/>
              </a:lnSpc>
              <a:defRPr/>
            </a:pPr>
            <a:r>
              <a:rPr lang="zh-CN" altLang="en-US" sz="2000" b="1" i="0" u="none" strike="noStrike" dirty="0">
                <a:ea typeface="Noto Sans SC"/>
                <a:cs typeface="Noto Sans SC"/>
                <a:sym typeface="Noto Sans SC"/>
                <a:solidFill>
                  <a:srgbClr val="333333"/>
                </a:solidFill>
              </a:rPr>
              <a:t>能否把“图像变换后标签随之变换”的规律直接写入分割网络，而不是完全依赖数据增强？</a:t>
            </a:r>
          </a:p>
        </p:txBody>
      </p:sp>
    </p:spTree>
    <p:extLst>
      <p:ext uri="{BB962C8B-B14F-4D97-AF65-F5344CB8AC3E}">
        <p14:creationId xmlns:p14="http://schemas.microsoft.com/office/powerpoint/2010/main" val="358875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C645-186D-3323-C745-98686127966E}"/>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B7A25393-FCF8-0F21-FED6-211B5C4D06E9}"/>
              </a:ext>
            </a:extLst>
          </p:cNvPr>
          <p:cNvSpPr>
            <a:spLocks noGrp="1"/>
          </p:cNvSpPr>
          <p:nvPr>
            <p:ph type="body" sz="quarter" idx="13"/>
          </p:nvPr>
        </p:nvSpPr>
        <p:spPr>
          <a:xfrm>
            <a:off x="850000" y="330000"/>
            <a:ext cx="7700000" cy="520000"/>
          </a:xfrm>
        </p:spPr>
        <p:txBody>
          <a:bodyPr>
            <a:normAutofit lnSpcReduction="10000"/>
          </a:bodyPr>
          <a:lstStyle/>
          <a:p>
            <a:r>
              <a:rPr lang="en" altLang="zh-CN" dirty="0" sz="3000" b="1">
                <a:solidFill>
                  <a:srgbClr val="1F2329"/>
                </a:solidFill>
              </a:rPr>
              <a:t>案例三：E(3) 等变点云分割中的局部结构建模</a:t>
            </a:r>
          </a:p>
        </p:txBody>
      </p:sp>
      <p:sp>
        <p:nvSpPr>
          <p:cNvPr id="19" name="AutoShape 7">
            <a:extLst>
              <a:ext uri="{FF2B5EF4-FFF2-40B4-BE49-F238E27FC236}">
                <a16:creationId xmlns:a16="http://schemas.microsoft.com/office/drawing/2014/main" id="{E3046E07-5E24-040B-A5DB-798ADEF769F2}"/>
              </a:ext>
            </a:extLst>
          </p:cNvPr>
          <p:cNvSpPr/>
          <p:nvPr/>
        </p:nvSpPr>
        <p:spPr>
          <a:xfrm>
            <a:off x="6794500" y="1143000"/>
            <a:ext cx="4267200" cy="2844800"/>
          </a:xfrm>
          <a:prstGeom prst="roundRect">
            <a:avLst>
              <a:gd name="adj" fmla="val 5357"/>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8">
            <a:extLst>
              <a:ext uri="{FF2B5EF4-FFF2-40B4-BE49-F238E27FC236}">
                <a16:creationId xmlns:a16="http://schemas.microsoft.com/office/drawing/2014/main" id="{57349038-5016-0413-5B52-C0621F10CB1C}"/>
              </a:ext>
            </a:extLst>
          </p:cNvPr>
          <p:cNvSpPr/>
          <p:nvPr/>
        </p:nvSpPr>
        <p:spPr>
          <a:xfrm>
            <a:off x="2374900" y="1143000"/>
            <a:ext cx="4267200" cy="2844800"/>
          </a:xfrm>
          <a:prstGeom prst="roundRect">
            <a:avLst>
              <a:gd name="adj" fmla="val 5357"/>
            </a:avLst>
          </a:prstGeom>
          <a:solidFill>
            <a:srgbClr val="6E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9">
            <a:extLst>
              <a:ext uri="{FF2B5EF4-FFF2-40B4-BE49-F238E27FC236}">
                <a16:creationId xmlns:a16="http://schemas.microsoft.com/office/drawing/2014/main" id="{0A78BF42-F5B2-FD5D-AB1C-B7A94BF35110}"/>
              </a:ext>
            </a:extLst>
          </p:cNvPr>
          <p:cNvSpPr/>
          <p:nvPr/>
        </p:nvSpPr>
        <p:spPr>
          <a:solidFill>
            <a:srgbClr val="930000"/>
          </a:solidFill>
          <a:xfrm>
            <a:off x="2950000" y="1280000"/>
            <a:ext cx="3300000" cy="440000"/>
          </a:xfrm>
          <a:prstGeom prst="rect">
            <a:avLst/>
          </a:prstGeom>
          <a:ln w="0">
            <a:solidFill>
              <a:srgbClr val="930000"/>
            </a:solidFill>
          </a:ln>
        </p:spPr>
        <p:txBody>
          <a:bodyPr vert="horz" wrap="none" lIns="88900" tIns="50800" rIns="88900" bIns="50800" rtlCol="0" anchor="t" anchorCtr="0"/>
          <a:lstStyle/>
          <a:p>
            <a:pPr indent="0" algn="ctr">
              <a:lnSpc>
                <a:spcPct val="100000"/>
              </a:lnSpc>
              <a:defRPr/>
            </a:pPr>
            <a:r>
              <a:rPr lang="en-US" sz="1800" b="1" i="0" u="none" strike="noStrike" dirty="0">
                <a:ea typeface="Noto Sans SC"/>
                <a:cs typeface="Noto Sans SC"/>
                <a:sym typeface="Noto Sans SC"/>
                <a:solidFill>
                  <a:srgbClr val="FFFFFF"/>
                </a:solidFill>
              </a:rPr>
              <a:t>分块 E(3) 等变</a:t>
            </a:r>
          </a:p>
        </p:txBody>
      </p:sp>
      <p:sp>
        <p:nvSpPr>
          <p:cNvPr id="22" name="AutoShape 10">
            <a:extLst>
              <a:ext uri="{FF2B5EF4-FFF2-40B4-BE49-F238E27FC236}">
                <a16:creationId xmlns:a16="http://schemas.microsoft.com/office/drawing/2014/main" id="{E131C0F2-0681-99D2-B948-3FA386C45EF0}"/>
              </a:ext>
            </a:extLst>
          </p:cNvPr>
          <p:cNvSpPr/>
          <p:nvPr/>
        </p:nvSpPr>
        <p:spPr>
          <a:solidFill>
            <a:srgbClr val="555555"/>
          </a:solidFill>
          <a:xfrm>
            <a:off x="7250000" y="1280000"/>
            <a:ext cx="3300000" cy="440000"/>
          </a:xfrm>
          <a:prstGeom prst="rect">
            <a:avLst/>
          </a:prstGeom>
          <a:ln w="0">
            <a:solidFill>
              <a:srgbClr val="555555"/>
            </a:solidFill>
          </a:ln>
        </p:spPr>
        <p:txBody>
          <a:bodyPr vert="horz" wrap="none" lIns="88900" tIns="50800" rIns="88900" bIns="50800" rtlCol="0" anchor="t" anchorCtr="0"/>
          <a:lstStyle/>
          <a:p>
            <a:pPr indent="0" algn="ctr">
              <a:lnSpc>
                <a:spcPct val="100000"/>
              </a:lnSpc>
              <a:defRPr/>
            </a:pPr>
            <a:r>
              <a:rPr lang="en-US" sz="1800" b="1" i="0" u="none" strike="noStrike" dirty="0" err="1">
                <a:ea typeface="Noto Sans SC"/>
                <a:cs typeface="Noto Sans SC"/>
                <a:sym typeface="Noto Sans SC"/>
                <a:solidFill>
                  <a:srgbClr val="FFFFFF"/>
                </a:solidFill>
              </a:rPr>
              <a:t>整体 E(3) 等变 (对比)</a:t>
            </a:r>
          </a:p>
        </p:txBody>
      </p:sp>
      <p:sp>
        <p:nvSpPr>
          <p:cNvPr id="23" name="AutoShape 11">
            <a:extLst>
              <a:ext uri="{FF2B5EF4-FFF2-40B4-BE49-F238E27FC236}">
                <a16:creationId xmlns:a16="http://schemas.microsoft.com/office/drawing/2014/main" id="{94380107-BF35-A01C-A6C5-7CA9A8CD7ADD}"/>
              </a:ext>
            </a:extLst>
          </p:cNvPr>
          <p:cNvSpPr/>
          <p:nvPr/>
        </p:nvSpPr>
        <p:spPr>
          <a:xfrm>
            <a:off x="876300" y="1993900"/>
            <a:ext cx="10439400" cy="3937000"/>
          </a:xfrm>
          <a:prstGeom prst="roundRect">
            <a:avLst>
              <a:gd name="adj" fmla="val 2903"/>
            </a:avLst>
          </a:prstGeom>
          <a:solidFill>
            <a:srgbClr val="FFFFFF">
              <a:alpha val="100000"/>
            </a:srgbClr>
          </a:solidFill>
          <a:ln w="25400" cap="flat" cmpd="sng">
            <a:noFill/>
            <a:prstDash val="solid"/>
            <a:round/>
          </a:ln>
          <a:effectLst>
            <a:outerShdw blurRad="393700" algn="ctr" rotWithShape="0">
              <a:srgbClr val="930000">
                <a:alpha val="18000"/>
              </a:srgbClr>
            </a:outerShdw>
          </a:effectLst>
        </p:spPr>
        <p:txBody>
          <a:bodyPr vert="horz" wrap="square" lIns="63500" tIns="63500" rIns="63500" bIns="63500" rtlCol="0" anchor="ctr"/>
          <a:lstStyle/>
          <a:p>
            <a:pPr algn="ctr">
              <a:defRPr/>
            </a:pPr>
            <a:endParaRPr/>
          </a:p>
        </p:txBody>
      </p:sp>
      <p:cxnSp>
        <p:nvCxnSpPr>
          <p:cNvPr id="24" name="Connector 12">
            <a:extLst>
              <a:ext uri="{FF2B5EF4-FFF2-40B4-BE49-F238E27FC236}">
                <a16:creationId xmlns:a16="http://schemas.microsoft.com/office/drawing/2014/main" id="{94636EA3-61F6-2B8D-DA32-1D914BA1FC86}"/>
              </a:ext>
            </a:extLst>
          </p:cNvPr>
          <p:cNvCxnSpPr/>
          <p:nvPr/>
        </p:nvCxnSpPr>
        <p:spPr>
          <a:xfrm>
            <a:off x="1193800" y="32639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cxnSp>
        <p:nvCxnSpPr>
          <p:cNvPr id="25" name="Connector 13">
            <a:extLst>
              <a:ext uri="{FF2B5EF4-FFF2-40B4-BE49-F238E27FC236}">
                <a16:creationId xmlns:a16="http://schemas.microsoft.com/office/drawing/2014/main" id="{22107E0C-B3D5-23A9-A732-474FE135DC0C}"/>
              </a:ext>
            </a:extLst>
          </p:cNvPr>
          <p:cNvCxnSpPr/>
          <p:nvPr/>
        </p:nvCxnSpPr>
        <p:spPr>
          <a:xfrm>
            <a:off x="1193800" y="44450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sp>
        <p:nvSpPr>
          <p:cNvPr id="26" name="AutoShape 14">
            <a:extLst>
              <a:ext uri="{FF2B5EF4-FFF2-40B4-BE49-F238E27FC236}">
                <a16:creationId xmlns:a16="http://schemas.microsoft.com/office/drawing/2014/main" id="{818C0DF4-DE5B-F8DB-8F1D-66EC33D26C17}"/>
              </a:ext>
            </a:extLst>
          </p:cNvPr>
          <p:cNvSpPr/>
          <p:nvPr/>
        </p:nvSpPr>
        <p:spPr>
          <a:xfrm>
            <a:off x="980000" y="232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dirty="0">
                <a:ea typeface="Noto Sans SC"/>
                <a:cs typeface="Noto Sans SC"/>
                <a:sym typeface="Noto Sans SC"/>
                <a:solidFill>
                  <a:srgbClr val="930000"/>
                </a:solidFill>
              </a:rPr>
              <a:t>基本设定</a:t>
            </a:r>
          </a:p>
        </p:txBody>
      </p:sp>
      <p:sp>
        <p:nvSpPr>
          <p:cNvPr id="27" name="AutoShape 15">
            <a:extLst>
              <a:ext uri="{FF2B5EF4-FFF2-40B4-BE49-F238E27FC236}">
                <a16:creationId xmlns:a16="http://schemas.microsoft.com/office/drawing/2014/main" id="{6923CCAB-3CF5-0761-3B43-E8FC953F4BCA}"/>
              </a:ext>
            </a:extLst>
          </p:cNvPr>
          <p:cNvSpPr/>
          <p:nvPr/>
        </p:nvSpPr>
        <p:spPr>
          <a:solidFill>
            <a:srgbClr val="FFFFFF"/>
          </a:solidFill>
          <a:xfrm>
            <a:off x="2950000" y="220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将点云中的局部区域视为可独立运动的几何块</a:t>
            </a:r>
          </a:p>
          <a:p>
            <a:pPr indent="0" algn="l">
              <a:lnSpc>
                <a:spcPct val="108333"/>
              </a:lnSpc>
              <a:defRPr/>
            </a:pPr>
            <a:r>
              <a:rPr lang="en-US" sz="1400" b="0" i="0" u="none" strike="noStrike" dirty="0">
                <a:ea typeface="Noto Sans SC"/>
                <a:cs typeface="Noto Sans SC"/>
                <a:sym typeface="Noto Sans SC"/>
                <a:solidFill>
                  <a:srgbClr val="333333"/>
                </a:solidFill>
              </a:rPr>
              <a:t>• 每个局部块在旋转/平移下保持等变</a:t>
            </a:r>
          </a:p>
        </p:txBody>
      </p:sp>
      <p:sp>
        <p:nvSpPr>
          <p:cNvPr id="28" name="AutoShape 16">
            <a:extLst>
              <a:ext uri="{FF2B5EF4-FFF2-40B4-BE49-F238E27FC236}">
                <a16:creationId xmlns:a16="http://schemas.microsoft.com/office/drawing/2014/main" id="{F322CCC9-7282-DC18-9A27-5E95CF05621C}"/>
              </a:ext>
            </a:extLst>
          </p:cNvPr>
          <p:cNvSpPr/>
          <p:nvPr/>
        </p:nvSpPr>
        <p:spPr>
          <a:solidFill>
            <a:srgbClr val="FFFFFF"/>
          </a:solidFill>
          <a:xfrm>
            <a:off x="7250000" y="220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假设整个物体或场景整体刚体变换</a:t>
            </a:r>
          </a:p>
          <a:p>
            <a:pPr indent="0" algn="l">
              <a:lnSpc>
                <a:spcPct val="108333"/>
              </a:lnSpc>
              <a:defRPr/>
            </a:pPr>
            <a:r>
              <a:rPr lang="en-US" sz="1400" b="0" i="0" u="none" strike="noStrike" dirty="0">
                <a:ea typeface="Noto Sans SC"/>
                <a:cs typeface="Noto Sans SC"/>
                <a:sym typeface="Noto Sans SC"/>
                <a:solidFill>
                  <a:srgbClr val="333333"/>
                </a:solidFill>
              </a:rPr>
              <a:t>• 对人体、家具、机器人等局部运动场景不够灵活</a:t>
            </a:r>
          </a:p>
        </p:txBody>
      </p:sp>
      <p:sp>
        <p:nvSpPr>
          <p:cNvPr id="29" name="AutoShape 17">
            <a:extLst>
              <a:ext uri="{FF2B5EF4-FFF2-40B4-BE49-F238E27FC236}">
                <a16:creationId xmlns:a16="http://schemas.microsoft.com/office/drawing/2014/main" id="{138A1D87-616A-0841-2A35-766505B64608}"/>
              </a:ext>
            </a:extLst>
          </p:cNvPr>
          <p:cNvSpPr/>
          <p:nvPr/>
        </p:nvSpPr>
        <p:spPr>
          <a:xfrm>
            <a:off x="980000" y="359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a:ea typeface="Noto Sans SC"/>
                <a:cs typeface="Noto Sans SC"/>
                <a:sym typeface="Noto Sans SC"/>
                <a:solidFill>
                  <a:srgbClr val="930000"/>
                </a:solidFill>
              </a:rPr>
              <a:t>更新/聚合方式</a:t>
            </a:r>
          </a:p>
        </p:txBody>
      </p:sp>
      <p:sp>
        <p:nvSpPr>
          <p:cNvPr id="30" name="AutoShape 18">
            <a:extLst>
              <a:ext uri="{FF2B5EF4-FFF2-40B4-BE49-F238E27FC236}">
                <a16:creationId xmlns:a16="http://schemas.microsoft.com/office/drawing/2014/main" id="{2B0134F6-7B34-C950-1C87-E6B451F2A614}"/>
              </a:ext>
            </a:extLst>
          </p:cNvPr>
          <p:cNvSpPr/>
          <p:nvPr/>
        </p:nvSpPr>
        <p:spPr>
          <a:solidFill>
            <a:srgbClr val="FFFFFF"/>
          </a:solidFill>
          <a:xfrm>
            <a:off x="2950000" y="347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局部邻域建立相对坐标与边特征</a:t>
            </a:r>
          </a:p>
          <a:p>
            <a:pPr indent="0" algn="l">
              <a:lnSpc>
                <a:spcPct val="108333"/>
              </a:lnSpc>
              <a:defRPr/>
            </a:pPr>
            <a:r>
              <a:rPr lang="en-US" sz="1400" b="0" i="0" u="none" strike="noStrike" dirty="0">
                <a:ea typeface="Noto Sans SC"/>
                <a:cs typeface="Noto Sans SC"/>
                <a:sym typeface="Noto Sans SC"/>
                <a:solidFill>
                  <a:srgbClr val="333333"/>
                </a:solidFill>
              </a:rPr>
              <a:t>• 网络学习点级别标签，同时保留局部姿态关系</a:t>
            </a:r>
          </a:p>
        </p:txBody>
      </p:sp>
      <p:sp>
        <p:nvSpPr>
          <p:cNvPr id="31" name="AutoShape 19">
            <a:extLst>
              <a:ext uri="{FF2B5EF4-FFF2-40B4-BE49-F238E27FC236}">
                <a16:creationId xmlns:a16="http://schemas.microsoft.com/office/drawing/2014/main" id="{1AF7F32A-9BC6-467C-907A-2E5CC8691606}"/>
              </a:ext>
            </a:extLst>
          </p:cNvPr>
          <p:cNvSpPr/>
          <p:nvPr/>
        </p:nvSpPr>
        <p:spPr>
          <a:solidFill>
            <a:srgbClr val="FFFFFF"/>
          </a:solidFill>
          <a:xfrm>
            <a:off x="7250000" y="347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输入整体旋转时，特征整体同步变换</a:t>
            </a:r>
          </a:p>
          <a:p>
            <a:pPr indent="0" algn="l">
              <a:lnSpc>
                <a:spcPct val="108333"/>
              </a:lnSpc>
              <a:defRPr/>
            </a:pPr>
            <a:r>
              <a:rPr lang="en-US" sz="1400" b="0" i="0" u="none" strike="noStrike" dirty="0">
                <a:ea typeface="Noto Sans SC"/>
                <a:cs typeface="Noto Sans SC"/>
                <a:sym typeface="Noto Sans SC"/>
                <a:solidFill>
                  <a:srgbClr val="333333"/>
                </a:solidFill>
              </a:rPr>
              <a:t>• 但局部部件相对运动时，表达能力受限</a:t>
            </a:r>
          </a:p>
        </p:txBody>
      </p:sp>
      <p:sp>
        <p:nvSpPr>
          <p:cNvPr id="32" name="AutoShape 20">
            <a:extLst>
              <a:ext uri="{FF2B5EF4-FFF2-40B4-BE49-F238E27FC236}">
                <a16:creationId xmlns:a16="http://schemas.microsoft.com/office/drawing/2014/main" id="{AF7AFF04-8DE8-D34F-CBA7-6DB82C86C485}"/>
              </a:ext>
            </a:extLst>
          </p:cNvPr>
          <p:cNvSpPr/>
          <p:nvPr/>
        </p:nvSpPr>
        <p:spPr>
          <a:xfrm>
            <a:off x="980000" y="486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dirty="0">
                <a:ea typeface="Noto Sans SC"/>
                <a:cs typeface="Noto Sans SC"/>
                <a:sym typeface="Noto Sans SC"/>
                <a:solidFill>
                  <a:srgbClr val="930000"/>
                </a:solidFill>
              </a:rPr>
              <a:t>核心优势</a:t>
            </a:r>
          </a:p>
        </p:txBody>
      </p:sp>
      <p:sp>
        <p:nvSpPr>
          <p:cNvPr id="33" name="AutoShape 21">
            <a:extLst>
              <a:ext uri="{FF2B5EF4-FFF2-40B4-BE49-F238E27FC236}">
                <a16:creationId xmlns:a16="http://schemas.microsoft.com/office/drawing/2014/main" id="{1293475D-06C2-C23D-6E7F-A420AD8ECE41}"/>
              </a:ext>
            </a:extLst>
          </p:cNvPr>
          <p:cNvSpPr/>
          <p:nvPr/>
        </p:nvSpPr>
        <p:spPr>
          <a:solidFill>
            <a:srgbClr val="FFFFFF"/>
          </a:solidFill>
          <a:xfrm>
            <a:off x="2950000" y="474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更贴近真实三维分割：人体部件、室内物体、可变形结构</a:t>
            </a:r>
          </a:p>
          <a:p>
            <a:pPr indent="0" algn="l">
              <a:lnSpc>
                <a:spcPct val="108333"/>
              </a:lnSpc>
              <a:defRPr/>
            </a:pPr>
            <a:r>
              <a:rPr lang="en-US" sz="1400" b="0" i="0" u="none" strike="noStrike" dirty="0">
                <a:ea typeface="Noto Sans SC"/>
                <a:cs typeface="Noto Sans SC"/>
                <a:sym typeface="Noto Sans SC"/>
                <a:solidFill>
                  <a:srgbClr val="333333"/>
                </a:solidFill>
              </a:rPr>
              <a:t>• 将 E(3) 几何约束从整体扩展到局部</a:t>
            </a:r>
          </a:p>
        </p:txBody>
      </p:sp>
      <p:sp>
        <p:nvSpPr>
          <p:cNvPr id="2" name="AutoShape 22">
            <a:extLst>
              <a:ext uri="{FF2B5EF4-FFF2-40B4-BE49-F238E27FC236}">
                <a16:creationId xmlns:a16="http://schemas.microsoft.com/office/drawing/2014/main" id="{2B5BB45B-070A-D68F-D126-8237281C85DD}"/>
              </a:ext>
            </a:extLst>
          </p:cNvPr>
          <p:cNvSpPr/>
          <p:nvPr/>
        </p:nvSpPr>
        <p:spPr>
          <a:solidFill>
            <a:srgbClr val="F7F1F1"/>
          </a:solidFill>
          <a:xfrm>
            <a:off x="1500000" y="6020000"/>
            <a:ext cx="9400000" cy="420000"/>
          </a:xfrm>
          <a:prstGeom prst="rect">
            <a:avLst/>
          </a:prstGeom>
          <a:ln w="9000">
            <a:solidFill>
              <a:srgbClr val="C43030"/>
            </a:solidFill>
          </a:ln>
        </p:spPr>
        <p:txBody>
          <a:bodyPr vert="horz" wrap="square" lIns="88900" tIns="50800" rIns="88900" bIns="50800" rtlCol="0" anchor="t" anchorCtr="0"/>
          <a:lstStyle/>
          <a:p>
            <a:pPr indent="0" algn="l">
              <a:lnSpc>
                <a:spcPct val="108333"/>
              </a:lnSpc>
              <a:defRPr/>
            </a:pPr>
            <a:r>
              <a:rPr lang="en-US" sz="1700" b="1" i="0" u="none" strike="noStrike" dirty="0">
                <a:ea typeface="Noto Sans SC"/>
                <a:cs typeface="Noto Sans SC"/>
                <a:sym typeface="Noto Sans SC"/>
                <a:solidFill>
                  <a:srgbClr val="930000"/>
                </a:solidFill>
              </a:rPr>
              <a:t>总结：点云分割中的李群思想，不只是处理整体旋转，而是让局部结构也遵守几何一致性。</a:t>
            </a:r>
          </a:p>
        </p:txBody>
      </p:sp>
      <p:cxnSp>
        <p:nvCxnSpPr>
          <p:cNvPr id="4" name="直接连接符 3">
            <a:extLst>
              <a:ext uri="{FF2B5EF4-FFF2-40B4-BE49-F238E27FC236}">
                <a16:creationId xmlns:a16="http://schemas.microsoft.com/office/drawing/2014/main" id="{2B8BD23F-5941-9E1A-BC73-32FC35A95446}"/>
              </a:ext>
            </a:extLst>
          </p:cNvPr>
          <p:cNvCxnSpPr/>
          <p:nvPr/>
        </p:nvCxnSpPr>
        <p:spPr>
          <a:xfrm>
            <a:off x="8729980" y="5171440"/>
            <a:ext cx="36000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379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D310-F015-C049-6504-A05D2CCCE2C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E1417E3D-7707-4BC4-D278-C655CF52DDB0}"/>
              </a:ext>
            </a:extLst>
          </p:cNvPr>
          <p:cNvSpPr>
            <a:spLocks noGrp="1"/>
          </p:cNvSpPr>
          <p:nvPr>
            <p:ph type="body" sz="quarter" idx="13"/>
          </p:nvPr>
        </p:nvSpPr>
        <p:spPr>
          <a:xfrm>
            <a:off x="850000" y="330000"/>
            <a:ext cx="7000000" cy="520000"/>
          </a:xfrm>
        </p:spPr>
        <p:txBody>
          <a:bodyPr>
            <a:normAutofit lnSpcReduction="10000"/>
          </a:bodyPr>
          <a:lstStyle/>
          <a:p>
            <a:r>
              <a:rPr lang="en-US" altLang="zh-CN" dirty="0" sz="3000" b="1">
                <a:solidFill>
                  <a:srgbClr val="1F2329"/>
                </a:solidFill>
              </a:rPr>
              <a:t>李群分割方法的统一视角</a:t>
            </a:r>
          </a:p>
        </p:txBody>
      </p:sp>
      <p:sp>
        <p:nvSpPr>
          <p:cNvPr id="2" name="矩形: 圆角 1">
            <a:extLst>
              <a:ext uri="{FF2B5EF4-FFF2-40B4-BE49-F238E27FC236}">
                <a16:creationId xmlns:a16="http://schemas.microsoft.com/office/drawing/2014/main" id="{D74806D8-F740-14AC-4C13-30126E6DE74D}"/>
              </a:ext>
            </a:extLst>
          </p:cNvPr>
          <p:cNvSpPr/>
          <p:nvPr/>
        </p:nvSpPr>
        <p:spPr>
          <a:xfrm>
            <a:off x="6799418" y="1443273"/>
            <a:ext cx="4263779" cy="2844530"/>
          </a:xfrm>
          <a:prstGeom prst="roundRect">
            <a:avLst>
              <a:gd name="adj" fmla="val 53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 name="矩形: 圆角 2">
            <a:extLst>
              <a:ext uri="{FF2B5EF4-FFF2-40B4-BE49-F238E27FC236}">
                <a16:creationId xmlns:a16="http://schemas.microsoft.com/office/drawing/2014/main" id="{F87D4604-6A31-20EF-3045-546F1CE2EA0E}"/>
              </a:ext>
            </a:extLst>
          </p:cNvPr>
          <p:cNvSpPr/>
          <p:nvPr/>
        </p:nvSpPr>
        <p:spPr>
          <a:xfrm>
            <a:off x="2369820" y="1443273"/>
            <a:ext cx="4263779" cy="2844530"/>
          </a:xfrm>
          <a:prstGeom prst="roundRect">
            <a:avLst>
              <a:gd name="adj" fmla="val 532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4" name="文本框 3">
            <a:extLst>
              <a:ext uri="{FF2B5EF4-FFF2-40B4-BE49-F238E27FC236}">
                <a16:creationId xmlns:a16="http://schemas.microsoft.com/office/drawing/2014/main" id="{5189B231-9E87-0789-EA16-00121A21E229}"/>
              </a:ext>
            </a:extLst>
          </p:cNvPr>
          <p:cNvSpPr txBox="1"/>
          <p:nvPr/>
        </p:nvSpPr>
        <p:spPr>
          <a:solidFill>
            <a:srgbClr val="930000"/>
          </a:solidFill>
          <a:xfrm>
            <a:off x="3240000" y="1320000"/>
            <a:ext cx="3400000" cy="440000"/>
          </a:xfrm>
          <a:prstGeom prst="rect">
            <a:avLst/>
          </a:prstGeom>
          <a:ln w="0">
            <a:solidFill>
              <a:srgbClr val="93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effectLst/>
                <a:uLnTx/>
                <a:uFillTx/>
                <a:latin typeface="+mj-ea"/>
                <a:ea typeface="+mj-ea"/>
                <a:cs typeface="+mn-cs"/>
                <a:solidFill>
                  <a:srgbClr val="FFFFFF"/>
                </a:solidFill>
              </a:rPr>
              <a:t>SE(3) 医学分割</a:t>
            </a:r>
          </a:p>
        </p:txBody>
      </p:sp>
      <p:sp>
        <p:nvSpPr>
          <p:cNvPr id="5" name="文本框 4">
            <a:extLst>
              <a:ext uri="{FF2B5EF4-FFF2-40B4-BE49-F238E27FC236}">
                <a16:creationId xmlns:a16="http://schemas.microsoft.com/office/drawing/2014/main" id="{EB71771F-5201-8A35-44EE-6AE7474D4B9C}"/>
              </a:ext>
            </a:extLst>
          </p:cNvPr>
          <p:cNvSpPr txBox="1"/>
          <p:nvPr/>
        </p:nvSpPr>
        <p:spPr>
          <a:solidFill>
            <a:srgbClr val="930000"/>
          </a:solidFill>
          <a:xfrm>
            <a:off x="7160000" y="1320000"/>
            <a:ext cx="3700000" cy="440000"/>
          </a:xfrm>
          <a:prstGeom prst="rect">
            <a:avLst/>
          </a:prstGeom>
          <a:ln w="0">
            <a:solidFill>
              <a:srgbClr val="93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effectLst/>
                <a:uLnTx/>
                <a:uFillTx/>
                <a:latin typeface="+mj-ea"/>
                <a:ea typeface="+mj-ea"/>
                <a:cs typeface="+mn-cs"/>
                <a:solidFill>
                  <a:srgbClr val="FFFFFF"/>
                </a:solidFill>
              </a:rPr>
              <a:t>群等变 U-Net / 点云分割</a:t>
            </a:r>
          </a:p>
        </p:txBody>
      </p:sp>
      <p:sp>
        <p:nvSpPr>
          <p:cNvPr id="6" name="矩形: 圆角 5">
            <a:extLst>
              <a:ext uri="{FF2B5EF4-FFF2-40B4-BE49-F238E27FC236}">
                <a16:creationId xmlns:a16="http://schemas.microsoft.com/office/drawing/2014/main" id="{51323BBF-5606-AB2F-9873-822C6675C86E}"/>
              </a:ext>
            </a:extLst>
          </p:cNvPr>
          <p:cNvSpPr/>
          <p:nvPr/>
        </p:nvSpPr>
        <p:spPr>
          <a:xfrm>
            <a:off x="874713" y="2295042"/>
            <a:ext cx="10442575" cy="3473856"/>
          </a:xfrm>
          <a:prstGeom prst="roundRect">
            <a:avLst>
              <a:gd name="adj" fmla="val 2858"/>
            </a:avLst>
          </a:prstGeom>
          <a:solidFill>
            <a:schemeClr val="bg1"/>
          </a:solidFill>
          <a:ln>
            <a:noFill/>
          </a:ln>
          <a:effectLst>
            <a:outerShdw blurRad="393700" sx="102000" sy="102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cxnSp>
        <p:nvCxnSpPr>
          <p:cNvPr id="7" name="直接连接符 6">
            <a:extLst>
              <a:ext uri="{FF2B5EF4-FFF2-40B4-BE49-F238E27FC236}">
                <a16:creationId xmlns:a16="http://schemas.microsoft.com/office/drawing/2014/main" id="{94FFE522-E0EB-5BE7-EBB6-6400087681A3}"/>
              </a:ext>
            </a:extLst>
          </p:cNvPr>
          <p:cNvCxnSpPr/>
          <p:nvPr/>
        </p:nvCxnSpPr>
        <p:spPr>
          <a:xfrm>
            <a:off x="1191737" y="333622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BFC9B77-CC71-A415-80E7-2C3EA37567DF}"/>
              </a:ext>
            </a:extLst>
          </p:cNvPr>
          <p:cNvCxnSpPr/>
          <p:nvPr/>
        </p:nvCxnSpPr>
        <p:spPr>
          <a:xfrm>
            <a:off x="1145458" y="406523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FEA16FD-5C9C-D2EF-97D8-F60901A46B1C}"/>
              </a:ext>
            </a:extLst>
          </p:cNvPr>
          <p:cNvSpPr txBox="1"/>
          <p:nvPr/>
        </p:nvSpPr>
        <p:spPr>
          <a:xfrm>
            <a:off x="980000" y="22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处理对象</a:t>
            </a:r>
          </a:p>
        </p:txBody>
      </p:sp>
      <p:sp>
        <p:nvSpPr>
          <p:cNvPr id="10" name="文本框 9">
            <a:extLst>
              <a:ext uri="{FF2B5EF4-FFF2-40B4-BE49-F238E27FC236}">
                <a16:creationId xmlns:a16="http://schemas.microsoft.com/office/drawing/2014/main" id="{78690844-0D9C-9AA4-498A-2D1520D458F0}"/>
              </a:ext>
            </a:extLst>
          </p:cNvPr>
          <p:cNvSpPr txBox="1"/>
          <p:nvPr/>
        </p:nvSpPr>
        <p:spPr>
          <a:solidFill>
            <a:srgbClr val="FFFFFF"/>
          </a:solidFill>
          <a:xfrm>
            <a:off x="3240000" y="22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3D 医学体数据、DWI、器官/病灶 mask</a:t>
            </a:r>
          </a:p>
        </p:txBody>
      </p:sp>
      <p:sp>
        <p:nvSpPr>
          <p:cNvPr id="11" name="文本框 10">
            <a:extLst>
              <a:ext uri="{FF2B5EF4-FFF2-40B4-BE49-F238E27FC236}">
                <a16:creationId xmlns:a16="http://schemas.microsoft.com/office/drawing/2014/main" id="{59335E19-5DB5-D14D-2D70-2A388A781B9E}"/>
              </a:ext>
            </a:extLst>
          </p:cNvPr>
          <p:cNvSpPr txBox="1"/>
          <p:nvPr/>
        </p:nvSpPr>
        <p:spPr>
          <a:solidFill>
            <a:srgbClr val="FFFFFF"/>
          </a:solidFill>
          <a:xfrm>
            <a:off x="7160000" y="22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2D/3D 医学图像、三维点云部件标签</a:t>
            </a:r>
          </a:p>
        </p:txBody>
      </p:sp>
      <p:sp>
        <p:nvSpPr>
          <p:cNvPr id="12" name="文本框 11">
            <a:extLst>
              <a:ext uri="{FF2B5EF4-FFF2-40B4-BE49-F238E27FC236}">
                <a16:creationId xmlns:a16="http://schemas.microsoft.com/office/drawing/2014/main" id="{C9FC5825-311D-6056-55B6-96A116F2B2D7}"/>
              </a:ext>
            </a:extLst>
          </p:cNvPr>
          <p:cNvSpPr txBox="1"/>
          <p:nvPr/>
        </p:nvSpPr>
        <p:spPr>
          <a:xfrm>
            <a:off x="980000" y="31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李群作用</a:t>
            </a:r>
          </a:p>
        </p:txBody>
      </p:sp>
      <p:sp>
        <p:nvSpPr>
          <p:cNvPr id="13" name="文本框 12">
            <a:extLst>
              <a:ext uri="{FF2B5EF4-FFF2-40B4-BE49-F238E27FC236}">
                <a16:creationId xmlns:a16="http://schemas.microsoft.com/office/drawing/2014/main" id="{A4A63B1D-11B4-3D62-4E2C-42209D9AEB43}"/>
              </a:ext>
            </a:extLst>
          </p:cNvPr>
          <p:cNvSpPr txBox="1"/>
          <p:nvPr/>
        </p:nvSpPr>
        <p:spPr>
          <a:solidFill>
            <a:srgbClr val="FFFFFF"/>
          </a:solidFill>
          <a:xfrm>
            <a:off x="3240000" y="31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SO(3)/SE(3) 描述三维旋转与平移</a:t>
            </a:r>
          </a:p>
        </p:txBody>
      </p:sp>
      <p:sp>
        <p:nvSpPr>
          <p:cNvPr id="14" name="文本框 13">
            <a:extLst>
              <a:ext uri="{FF2B5EF4-FFF2-40B4-BE49-F238E27FC236}">
                <a16:creationId xmlns:a16="http://schemas.microsoft.com/office/drawing/2014/main" id="{5FA9C29C-9A43-53C2-1102-804D626883FF}"/>
              </a:ext>
            </a:extLst>
          </p:cNvPr>
          <p:cNvSpPr txBox="1"/>
          <p:nvPr/>
        </p:nvSpPr>
        <p:spPr>
          <a:solidFill>
            <a:srgbClr val="FFFFFF"/>
          </a:solidFill>
          <a:xfrm>
            <a:off x="7160000" y="31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SO(2)/SE(2)/E(3) 描述旋转、反射、平移</a:t>
            </a:r>
          </a:p>
        </p:txBody>
      </p:sp>
      <p:sp>
        <p:nvSpPr>
          <p:cNvPr id="15" name="文本框 14">
            <a:extLst>
              <a:ext uri="{FF2B5EF4-FFF2-40B4-BE49-F238E27FC236}">
                <a16:creationId xmlns:a16="http://schemas.microsoft.com/office/drawing/2014/main" id="{5B82DC4A-BB3B-0A98-80FF-2560281B2CEA}"/>
              </a:ext>
            </a:extLst>
          </p:cNvPr>
          <p:cNvSpPr txBox="1"/>
          <p:nvPr/>
        </p:nvSpPr>
        <p:spPr>
          <a:xfrm>
            <a:off x="980000" y="40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指数映射/群提升</a:t>
            </a:r>
          </a:p>
        </p:txBody>
      </p:sp>
      <p:sp>
        <p:nvSpPr>
          <p:cNvPr id="17" name="文本框 16">
            <a:extLst>
              <a:ext uri="{FF2B5EF4-FFF2-40B4-BE49-F238E27FC236}">
                <a16:creationId xmlns:a16="http://schemas.microsoft.com/office/drawing/2014/main" id="{28E7BF17-8815-2EBB-891C-DB074EA40C12}"/>
              </a:ext>
            </a:extLst>
          </p:cNvPr>
          <p:cNvSpPr txBox="1"/>
          <p:nvPr/>
        </p:nvSpPr>
        <p:spPr>
          <a:solidFill>
            <a:srgbClr val="FFFFFF"/>
          </a:solidFill>
          <a:xfrm>
            <a:off x="3240000" y="40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群空间映射或群卷积特征</a:t>
            </a:r>
          </a:p>
        </p:txBody>
      </p:sp>
      <p:sp>
        <p:nvSpPr>
          <p:cNvPr id="18" name="文本框 17">
            <a:extLst>
              <a:ext uri="{FF2B5EF4-FFF2-40B4-BE49-F238E27FC236}">
                <a16:creationId xmlns:a16="http://schemas.microsoft.com/office/drawing/2014/main" id="{6A6CD005-7653-6559-2482-C8638EF80E6F}"/>
              </a:ext>
            </a:extLst>
          </p:cNvPr>
          <p:cNvSpPr txBox="1"/>
          <p:nvPr/>
        </p:nvSpPr>
        <p:spPr>
          <a:solidFill>
            <a:srgbClr val="FFFFFF"/>
          </a:solidFill>
          <a:xfrm>
            <a:off x="7160000" y="40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把输入特征提升到带姿态维度的表示空间</a:t>
            </a:r>
          </a:p>
        </p:txBody>
      </p:sp>
      <p:cxnSp>
        <p:nvCxnSpPr>
          <p:cNvPr id="19" name="直接连接符 18">
            <a:extLst>
              <a:ext uri="{FF2B5EF4-FFF2-40B4-BE49-F238E27FC236}">
                <a16:creationId xmlns:a16="http://schemas.microsoft.com/office/drawing/2014/main" id="{875F051C-A0D2-510A-706B-1C29E2EC1599}"/>
              </a:ext>
            </a:extLst>
          </p:cNvPr>
          <p:cNvCxnSpPr/>
          <p:nvPr/>
        </p:nvCxnSpPr>
        <p:spPr>
          <a:xfrm>
            <a:off x="1145457" y="4876500"/>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ED4E5C8-4929-3BE6-A9CD-936867DEA0B7}"/>
              </a:ext>
            </a:extLst>
          </p:cNvPr>
          <p:cNvSpPr txBox="1"/>
          <p:nvPr/>
        </p:nvSpPr>
        <p:spPr>
          <a:xfrm>
            <a:off x="980000" y="49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更新方式</a:t>
            </a:r>
          </a:p>
        </p:txBody>
      </p:sp>
      <p:sp>
        <p:nvSpPr>
          <p:cNvPr id="21" name="文本框 20">
            <a:extLst>
              <a:ext uri="{FF2B5EF4-FFF2-40B4-BE49-F238E27FC236}">
                <a16:creationId xmlns:a16="http://schemas.microsoft.com/office/drawing/2014/main" id="{73A6C05D-0958-A288-36CB-F480C00561AB}"/>
              </a:ext>
            </a:extLst>
          </p:cNvPr>
          <p:cNvSpPr txBox="1"/>
          <p:nvPr/>
        </p:nvSpPr>
        <p:spPr>
          <a:solidFill>
            <a:srgbClr val="FFFFFF"/>
          </a:solidFill>
          <a:xfrm>
            <a:off x="3240000" y="49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群卷积编码，聚合后输出体素级 mask</a:t>
            </a:r>
          </a:p>
        </p:txBody>
      </p:sp>
      <p:sp>
        <p:nvSpPr>
          <p:cNvPr id="22" name="文本框 21">
            <a:extLst>
              <a:ext uri="{FF2B5EF4-FFF2-40B4-BE49-F238E27FC236}">
                <a16:creationId xmlns:a16="http://schemas.microsoft.com/office/drawing/2014/main" id="{2E9E9ECA-FEC5-AD61-AAFB-FB2D46D5270B}"/>
              </a:ext>
            </a:extLst>
          </p:cNvPr>
          <p:cNvSpPr txBox="1"/>
          <p:nvPr/>
        </p:nvSpPr>
        <p:spPr>
          <a:solidFill>
            <a:srgbClr val="FFFFFF"/>
          </a:solidFill>
          <a:xfrm>
            <a:off x="7160000" y="49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等变卷积或局部分块聚合，输出像素/点级标签</a:t>
            </a:r>
          </a:p>
        </p:txBody>
      </p:sp>
      <p:sp>
        <p:nvSpPr>
          <p:cNvPr id="23" name="文本框 22">
            <a:extLst>
              <a:ext uri="{FF2B5EF4-FFF2-40B4-BE49-F238E27FC236}">
                <a16:creationId xmlns:a16="http://schemas.microsoft.com/office/drawing/2014/main" id="{791D92C2-AC03-DABB-C8A4-B66E94E5BCE5}"/>
              </a:ext>
            </a:extLst>
          </p:cNvPr>
          <p:cNvSpPr txBox="1"/>
          <p:nvPr/>
        </p:nvSpPr>
        <p:spPr>
          <a:solidFill>
            <a:srgbClr val="930000"/>
          </a:solidFill>
          <a:xfrm>
            <a:off x="2200000" y="6000000"/>
            <a:ext cx="8000000" cy="420000"/>
          </a:xfrm>
          <a:prstGeom prst="rect">
            <a:avLst/>
          </a:prstGeom>
          <a:ln w="0">
            <a:solidFill>
              <a:srgbClr val="930000"/>
            </a:solidFill>
          </a:ln>
        </p:spPr>
        <p:txBody>
          <a:bodyPr wrap="square" rtlCol="0">
            <a:spAutoFit/>
          </a:bodyPr>
          <a:lstStyle/>
          <a:p>
            <a:r>
              <a:rPr lang="zh-CN" altLang="en-US" b="1" dirty="0" sz="1800">
                <a:solidFill>
                  <a:srgbClr val="FFFFFF"/>
                </a:solidFill>
              </a:rPr>
              <a:t>统一思想：用李群约束分割网络，使输出标签与输入几何变换保持一致。</a:t>
            </a:r>
          </a:p>
        </p:txBody>
      </p:sp>
    </p:spTree>
    <p:extLst>
      <p:ext uri="{BB962C8B-B14F-4D97-AF65-F5344CB8AC3E}">
        <p14:creationId xmlns:p14="http://schemas.microsoft.com/office/powerpoint/2010/main" val="315880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a:xfrm>
            <a:off x="850000" y="330000"/>
            <a:ext cx="3000000" cy="520000"/>
          </a:xfrm>
        </p:spPr>
        <p:txBody>
          <a:bodyPr>
            <a:normAutofit lnSpcReduction="10000"/>
          </a:bodyPr>
          <a:lstStyle/>
          <a:p>
            <a:r>
              <a:rPr lang="zh-CN" altLang="en-US" dirty="0" sz="3000" b="1">
                <a:solidFill>
                  <a:srgbClr val="1F2329"/>
                </a:solidFill>
              </a:rPr>
              <a:t>总结</a:t>
            </a:r>
          </a:p>
        </p:txBody>
      </p:sp>
      <p:sp>
        <p:nvSpPr>
          <p:cNvPr id="2" name="AutoShape 3">
            <a:extLst>
              <a:ext uri="{FF2B5EF4-FFF2-40B4-BE49-F238E27FC236}">
                <a16:creationId xmlns:a16="http://schemas.microsoft.com/office/drawing/2014/main" id="{7BBB91EC-85FB-090D-0495-C6CE6608D264}"/>
              </a:ext>
            </a:extLst>
          </p:cNvPr>
          <p:cNvSpPr/>
          <p:nvPr/>
        </p:nvSpPr>
        <p:spPr>
          <a:xfrm>
            <a:off x="508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 name="AutoShape 4">
            <a:extLst>
              <a:ext uri="{FF2B5EF4-FFF2-40B4-BE49-F238E27FC236}">
                <a16:creationId xmlns:a16="http://schemas.microsoft.com/office/drawing/2014/main" id="{9C444584-67C0-9592-E2E2-A8425064E15F}"/>
              </a:ext>
            </a:extLst>
          </p:cNvPr>
          <p:cNvSpPr/>
          <p:nvPr/>
        </p:nvSpPr>
        <p:spPr>
          <a:xfrm>
            <a:off x="508000" y="1397000"/>
            <a:ext cx="101600" cy="16510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5">
            <a:extLst>
              <a:ext uri="{FF2B5EF4-FFF2-40B4-BE49-F238E27FC236}">
                <a16:creationId xmlns:a16="http://schemas.microsoft.com/office/drawing/2014/main" id="{01CECBA0-7A40-50FF-15F6-C99858A92A72}"/>
              </a:ext>
            </a:extLst>
          </p:cNvPr>
          <p:cNvSpPr/>
          <p:nvPr/>
        </p:nvSpPr>
        <p:spPr>
          <a:solidFill>
            <a:srgbClr val="FFFFFF"/>
          </a:solidFill>
          <a:xfrm>
            <a:off x="900000" y="126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01. 分割任务天然具有几何结构</a:t>
            </a:r>
          </a:p>
          <a:p>
            <a:pPr indent="0" algn="l">
              <a:lnSpc>
                <a:spcPct val="100000"/>
              </a:lnSpc>
              <a:defRPr/>
            </a:pPr>
            <a:r>
              <a:rPr lang="en-US" sz="1800" b="1" i="0" u="none" strike="noStrike" dirty="0">
                <a:ea typeface="Noto Sans SC"/>
                <a:cs typeface="Noto Sans SC"/>
                <a:sym typeface="Noto Sans SC"/>
                <a:solidFill>
                  <a:srgbClr val="333333"/>
                </a:solidFill>
              </a:rPr>
              <a:t>像素、体素或点的标签依赖邻域、边界和姿态关系，不能只看作独立分类问题。</a:t>
            </a:r>
          </a:p>
        </p:txBody>
      </p:sp>
      <p:sp>
        <p:nvSpPr>
          <p:cNvPr id="5" name="AutoShape 6">
            <a:extLst>
              <a:ext uri="{FF2B5EF4-FFF2-40B4-BE49-F238E27FC236}">
                <a16:creationId xmlns:a16="http://schemas.microsoft.com/office/drawing/2014/main" id="{24510741-33D3-0401-0794-B582BC98AC1F}"/>
              </a:ext>
            </a:extLst>
          </p:cNvPr>
          <p:cNvSpPr/>
          <p:nvPr/>
        </p:nvSpPr>
        <p:spPr>
          <a:xfrm>
            <a:off x="6223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1346C980-C59C-EF39-507B-C02C69231F2A}"/>
              </a:ext>
            </a:extLst>
          </p:cNvPr>
          <p:cNvSpPr/>
          <p:nvPr/>
        </p:nvSpPr>
        <p:spPr>
          <a:xfrm>
            <a:off x="6223000" y="1397000"/>
            <a:ext cx="101600" cy="1651000"/>
          </a:xfrm>
          <a:prstGeom prst="roundRect">
            <a:avLst>
              <a:gd name="adj" fmla="val 0"/>
            </a:avLst>
          </a:prstGeom>
          <a:solidFill>
            <a:srgbClr val="C4303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8">
            <a:extLst>
              <a:ext uri="{FF2B5EF4-FFF2-40B4-BE49-F238E27FC236}">
                <a16:creationId xmlns:a16="http://schemas.microsoft.com/office/drawing/2014/main" id="{711C0378-F120-7DA1-613B-D4554FF36EB0}"/>
              </a:ext>
            </a:extLst>
          </p:cNvPr>
          <p:cNvSpPr/>
          <p:nvPr/>
        </p:nvSpPr>
        <p:spPr>
          <a:solidFill>
            <a:srgbClr val="FFFFFF"/>
          </a:solidFill>
          <a:xfrm>
            <a:off x="6420000" y="126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02. 李群用于描述连续几何变换</a:t>
            </a:r>
          </a:p>
          <a:p>
            <a:pPr indent="0" algn="l">
              <a:lnSpc>
                <a:spcPct val="100000"/>
              </a:lnSpc>
              <a:defRPr/>
            </a:pPr>
            <a:r>
              <a:rPr lang="en-US" sz="1800" b="1" i="0" u="none" strike="noStrike" dirty="0">
                <a:ea typeface="Noto Sans SC"/>
                <a:cs typeface="Noto Sans SC"/>
                <a:sym typeface="Noto Sans SC"/>
                <a:solidFill>
                  <a:srgbClr val="333333"/>
                </a:solidFill>
              </a:rPr>
              <a:t>SO(2)、SO(3)、SE(3)、E(3) 分别对应旋转、三维刚体运动和欧式空间变换。</a:t>
            </a:r>
          </a:p>
        </p:txBody>
      </p:sp>
      <p:sp>
        <p:nvSpPr>
          <p:cNvPr id="8" name="AutoShape 9">
            <a:extLst>
              <a:ext uri="{FF2B5EF4-FFF2-40B4-BE49-F238E27FC236}">
                <a16:creationId xmlns:a16="http://schemas.microsoft.com/office/drawing/2014/main" id="{08FDE7D1-FCFF-992A-7AE2-E987E2AB5505}"/>
              </a:ext>
            </a:extLst>
          </p:cNvPr>
          <p:cNvSpPr/>
          <p:nvPr/>
        </p:nvSpPr>
        <p:spPr>
          <a:xfrm>
            <a:off x="508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10">
            <a:extLst>
              <a:ext uri="{FF2B5EF4-FFF2-40B4-BE49-F238E27FC236}">
                <a16:creationId xmlns:a16="http://schemas.microsoft.com/office/drawing/2014/main" id="{5E3D93F5-964F-A7D5-971D-CC3CB895EE6E}"/>
              </a:ext>
            </a:extLst>
          </p:cNvPr>
          <p:cNvSpPr/>
          <p:nvPr/>
        </p:nvSpPr>
        <p:spPr>
          <a:xfrm>
            <a:off x="508000" y="3302000"/>
            <a:ext cx="101600" cy="1651000"/>
          </a:xfrm>
          <a:prstGeom prst="roundRect">
            <a:avLst>
              <a:gd name="adj" fmla="val 0"/>
            </a:avLst>
          </a:prstGeom>
          <a:solidFill>
            <a:srgbClr val="D9534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1">
            <a:extLst>
              <a:ext uri="{FF2B5EF4-FFF2-40B4-BE49-F238E27FC236}">
                <a16:creationId xmlns:a16="http://schemas.microsoft.com/office/drawing/2014/main" id="{416B9156-3945-1D8C-D422-F3AD02B7ED9E}"/>
              </a:ext>
            </a:extLst>
          </p:cNvPr>
          <p:cNvSpPr/>
          <p:nvPr/>
        </p:nvSpPr>
        <p:spPr>
          <a:solidFill>
            <a:srgbClr val="FFFFFF"/>
          </a:solidFill>
          <a:xfrm>
            <a:off x="900000" y="320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03. 群等变网络用于保持预测一致性</a:t>
            </a:r>
          </a:p>
          <a:p>
            <a:pPr indent="0" algn="l">
              <a:lnSpc>
                <a:spcPct val="100000"/>
              </a:lnSpc>
              <a:defRPr/>
            </a:pPr>
            <a:r>
              <a:rPr lang="en-US" sz="1800" b="1" i="0" u="none" strike="noStrike" dirty="0">
                <a:ea typeface="Noto Sans SC"/>
                <a:cs typeface="Noto Sans SC"/>
                <a:sym typeface="Noto Sans SC"/>
                <a:solidFill>
                  <a:srgbClr val="333333"/>
                </a:solidFill>
              </a:rPr>
              <a:t>输入发生旋转/平移时，特征和输出 mask 按照相同规则变化，从而减少姿态敏感性。</a:t>
            </a:r>
          </a:p>
        </p:txBody>
      </p:sp>
      <p:sp>
        <p:nvSpPr>
          <p:cNvPr id="11" name="AutoShape 12">
            <a:extLst>
              <a:ext uri="{FF2B5EF4-FFF2-40B4-BE49-F238E27FC236}">
                <a16:creationId xmlns:a16="http://schemas.microsoft.com/office/drawing/2014/main" id="{C9C44615-417F-0BB0-CC86-CBBEA1FFD2AE}"/>
              </a:ext>
            </a:extLst>
          </p:cNvPr>
          <p:cNvSpPr/>
          <p:nvPr/>
        </p:nvSpPr>
        <p:spPr>
          <a:xfrm>
            <a:off x="6223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3">
            <a:extLst>
              <a:ext uri="{FF2B5EF4-FFF2-40B4-BE49-F238E27FC236}">
                <a16:creationId xmlns:a16="http://schemas.microsoft.com/office/drawing/2014/main" id="{D6C7E2B9-0C0F-9013-971B-9435C8F9AFE7}"/>
              </a:ext>
            </a:extLst>
          </p:cNvPr>
          <p:cNvSpPr/>
          <p:nvPr/>
        </p:nvSpPr>
        <p:spPr>
          <a:xfrm>
            <a:off x="6223000" y="3302000"/>
            <a:ext cx="101600" cy="1651000"/>
          </a:xfrm>
          <a:prstGeom prst="roundRect">
            <a:avLst>
              <a:gd name="adj" fmla="val 0"/>
            </a:avLst>
          </a:prstGeom>
          <a:solidFill>
            <a:srgbClr val="E74C3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4">
            <a:extLst>
              <a:ext uri="{FF2B5EF4-FFF2-40B4-BE49-F238E27FC236}">
                <a16:creationId xmlns:a16="http://schemas.microsoft.com/office/drawing/2014/main" id="{5446F792-C59F-445D-A1C0-22ED9DE9B6EB}"/>
              </a:ext>
            </a:extLst>
          </p:cNvPr>
          <p:cNvSpPr/>
          <p:nvPr/>
        </p:nvSpPr>
        <p:spPr>
          <a:solidFill>
            <a:srgbClr val="F7F1F1"/>
          </a:solidFill>
          <a:xfrm>
            <a:off x="6420000" y="3200000"/>
            <a:ext cx="5000000" cy="1260000"/>
          </a:xfrm>
          <a:prstGeom prst="rect">
            <a:avLst/>
          </a:prstGeom>
          <a:ln w="9000">
            <a:solidFill>
              <a:srgbClr val="C43030"/>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04. 案例实践与启示</a:t>
            </a:r>
          </a:p>
          <a:p>
            <a:pPr indent="0" algn="l">
              <a:lnSpc>
                <a:spcPct val="100000"/>
              </a:lnSpc>
              <a:defRPr/>
            </a:pPr>
            <a:r>
              <a:rPr lang="en-US" sz="1800" b="1" i="0" u="none" strike="noStrike" dirty="0">
                <a:ea typeface="Noto Sans SC"/>
                <a:cs typeface="Noto Sans SC"/>
                <a:sym typeface="Noto Sans SC"/>
                <a:solidFill>
                  <a:srgbClr val="333333"/>
                </a:solidFill>
              </a:rPr>
              <a:t>• SE(3) 群卷积：服务三维医学分割。</a:t>
            </a:r>
          </a:p>
          <a:p>
            <a:pPr indent="0" algn="l">
              <a:lnSpc>
                <a:spcPct val="100000"/>
              </a:lnSpc>
              <a:defRPr/>
            </a:pPr>
            <a:r>
              <a:rPr lang="en-US" sz="1800" b="1" i="0" u="none" strike="noStrike" dirty="0">
                <a:ea typeface="Noto Sans SC"/>
                <a:cs typeface="Noto Sans SC"/>
                <a:sym typeface="Noto Sans SC"/>
                <a:solidFill>
                  <a:srgbClr val="333333"/>
                </a:solidFill>
              </a:rPr>
              <a:t>• GER-UNet：把医学图像对称性写进 U-Net。</a:t>
            </a:r>
          </a:p>
          <a:p>
            <a:pPr indent="0" algn="l">
              <a:lnSpc>
                <a:spcPct val="100000"/>
              </a:lnSpc>
              <a:defRPr/>
            </a:pPr>
            <a:r>
              <a:rPr lang="en-US" sz="1800" b="1" i="0" u="none" strike="noStrike" dirty="0">
                <a:ea typeface="Noto Sans SC"/>
                <a:cs typeface="Noto Sans SC"/>
                <a:sym typeface="Noto Sans SC"/>
                <a:solidFill>
                  <a:srgbClr val="333333"/>
                </a:solidFill>
              </a:rPr>
              <a:t>• APEN：把 E(3) 等变扩展到点云局部结构。</a:t>
            </a:r>
          </a:p>
        </p:txBody>
      </p:sp>
      <p:sp>
        <p:nvSpPr>
          <p:cNvPr id="14" name="AutoShape 15">
            <a:extLst>
              <a:ext uri="{FF2B5EF4-FFF2-40B4-BE49-F238E27FC236}">
                <a16:creationId xmlns:a16="http://schemas.microsoft.com/office/drawing/2014/main" id="{179712D5-F076-3908-C80F-AA0CB68641EB}"/>
              </a:ext>
            </a:extLst>
          </p:cNvPr>
          <p:cNvSpPr/>
          <p:nvPr/>
        </p:nvSpPr>
        <p:spPr>
          <a:xfrm>
            <a:off x="508000" y="5207000"/>
            <a:ext cx="11176000" cy="762000"/>
          </a:xfrm>
          <a:prstGeom prst="roundRect">
            <a:avLst>
              <a:gd name="adj" fmla="val 16666"/>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6">
            <a:extLst>
              <a:ext uri="{FF2B5EF4-FFF2-40B4-BE49-F238E27FC236}">
                <a16:creationId xmlns:a16="http://schemas.microsoft.com/office/drawing/2014/main" id="{7915D9B4-E5E9-1008-86A3-F5ACFB00A87F}"/>
              </a:ext>
            </a:extLst>
          </p:cNvPr>
          <p:cNvSpPr/>
          <p:nvPr/>
        </p:nvSpPr>
        <p:spPr>
          <a:solidFill>
            <a:srgbClr val="930000"/>
          </a:solidFill>
          <a:xfrm>
            <a:off x="900000" y="5520000"/>
            <a:ext cx="10500000" cy="680000"/>
          </a:xfrm>
          <a:prstGeom prst="rect">
            <a:avLst/>
          </a:prstGeom>
          <a:ln w="0">
            <a:solidFill>
              <a:srgbClr val="930000"/>
            </a:solidFill>
          </a:ln>
        </p:spPr>
        <p:txBody>
          <a:bodyPr vert="horz" wrap="square" lIns="0" tIns="0" rIns="0" bIns="0" rtlCol="0" anchor="ctr" anchorCtr="0"/>
          <a:lstStyle/>
          <a:p>
            <a:pPr indent="0" algn="ctr">
              <a:lnSpc>
                <a:spcPct val="125000"/>
              </a:lnSpc>
              <a:defRPr/>
            </a:pPr>
            <a:r>
              <a:rPr lang="en-US" sz="1850" b="1" i="0" u="none" strike="noStrike" dirty="0">
                <a:latin typeface="+mn-ea"/>
                <a:cs typeface="Noto Sans SC"/>
                <a:sym typeface="Noto Sans SC"/>
                <a:solidFill>
                  <a:srgbClr val="FFFFFF"/>
                </a:solidFill>
              </a:rPr>
              <a:t>核心价值：李群机器学习为分割任务提供了几何一致、结构保持、泛化更强的建模方式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923731" y="2632243"/>
            <a:ext cx="6211957" cy="796757"/>
          </a:xfrm>
          <a:prstGeom prst="rect">
            <a:avLst/>
          </a:prstGeom>
          <a:noFill/>
        </p:spPr>
        <p:txBody>
          <a:bodyPr wrap="none" rtlCol="0">
            <a:spAutoFit/>
          </a:bodyPr>
          <a:lstStyle/>
          <a:p>
            <a:pPr algn="ctr">
              <a:lnSpc>
                <a:spcPct val="110000"/>
              </a:lnSpc>
            </a:pPr>
            <a:r>
              <a:rPr lang="zh-CN" altLang="en-US" sz="4400" b="1" spc="300" dirty="0">
                <a:solidFill>
                  <a:schemeClr val="accent1"/>
                </a:solidFill>
                <a:latin typeface="+mj-ea"/>
              </a:rPr>
              <a:t>分享结束，谢谢大家！</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41C54ADD-82D9-0C91-16A1-A50424FFD3B0}"/>
              </a:ext>
            </a:extLst>
          </p:cNvPr>
          <p:cNvSpPr txBox="1"/>
          <p:nvPr/>
        </p:nvSpPr>
        <p:spPr>
          <a:xfrm>
            <a:off x="5195752" y="5832963"/>
            <a:ext cx="1800493" cy="369332"/>
          </a:xfrm>
          <a:prstGeom prst="rect">
            <a:avLst/>
          </a:prstGeom>
          <a:noFill/>
        </p:spPr>
        <p:txBody>
          <a:bodyPr wrap="none" rtlCol="0">
            <a:spAutoFit/>
          </a:bodyPr>
          <a:lstStyle/>
          <a:p>
            <a:r>
              <a:rPr lang="zh-CN" altLang="en-US" b="1" dirty="0">
                <a:solidFill>
                  <a:schemeClr val="bg1"/>
                </a:solidFill>
                <a:latin typeface="+mn-ea"/>
              </a:rPr>
              <a:t>汇报人：蒋伊文</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5NDEzM2Y2MTcxMDhlYTZkNDE0MjFlOGQ4MjM2NjAifQ=="/>
  <p:tag name="RESOURCE_RECORD_KEY" val="{&quot;71&quot;:[76235680128]}"/>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324A7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E0000"/>
      </a:dk2>
      <a:lt2>
        <a:srgbClr val="FFFFFF"/>
      </a:lt2>
      <a:accent1>
        <a:srgbClr val="930000"/>
      </a:accent1>
      <a:accent2>
        <a:srgbClr val="CE2600"/>
      </a:accent2>
      <a:accent3>
        <a:srgbClr val="F43E06"/>
      </a:accent3>
      <a:accent4>
        <a:srgbClr val="FF693E"/>
      </a:accent4>
      <a:accent5>
        <a:srgbClr val="FF8359"/>
      </a:accent5>
      <a:accent6>
        <a:srgbClr val="FF9E73"/>
      </a:accent6>
      <a:hlink>
        <a:srgbClr val="0026E5"/>
      </a:hlink>
      <a:folHlink>
        <a:srgbClr val="7E1FAD"/>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8827</TotalTime>
  <Words>3545</Words>
  <Application>Microsoft Macintosh PowerPoint</Application>
  <PresentationFormat>宽屏</PresentationFormat>
  <Paragraphs>189</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等线</vt:lpstr>
      <vt:lpstr>思源黑体 CN</vt:lpstr>
      <vt:lpstr>思源黑体 CN Light</vt:lpstr>
      <vt:lpstr>微软雅黑</vt:lpstr>
      <vt:lpstr>Noto Sans SC</vt:lpstr>
      <vt:lpstr>Roboto Bold</vt:lpstr>
      <vt:lpstr>Arial</vt:lpstr>
      <vt:lpstr>Roboto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李群机器学习在分割任务中的应用</dc:title>
  <dc:creator>汉顺</dc:creator>
  <cp:lastModifiedBy>伊文 蒋</cp:lastModifiedBy>
  <cp:revision>78</cp:revision>
  <dcterms:created xsi:type="dcterms:W3CDTF">2023-06-27T07:07:00Z</dcterms:created>
  <dcterms:modified xsi:type="dcterms:W3CDTF">2026-05-14T08:46:33Z</dcterms:modified>
  <dc:subject>Lie group machine learning for segmentation</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7BCD1B22E734437382E3CDA9036C2592_13</vt:lpwstr>
  </property>
  <property fmtid="{D5CDD505-2E9C-101B-9397-08002B2CF9AE}" pid="3" name="KSOProductBuildVer">
    <vt:lpwstr>2052-12.1.0.24034</vt:lpwstr>
  </property>
</Properties>
</file>